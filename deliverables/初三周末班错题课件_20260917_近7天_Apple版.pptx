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minxue-weekend-apple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minxue-weekend-apple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6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25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1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95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5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5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4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225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21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95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5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5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4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25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1f57ab3209ab93d2.png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fe6f08e9bfec2217.png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3d74c929e8f848d6.png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d0e4b15f4bcf9f82.png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d4ff894edfd5033e.png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fb82f3e575409ad4.png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af5ff67c4dd409ca.png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6ac958c3008369b6.png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4dfd7376a8ebf31c.png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1153c8e7cd12d123.png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6a7f73f8c9ab7613.png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bda4d41e95059e1b.png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cover-kicker"/>
          <p:cNvGrpSpPr/>
          <p:nvPr/>
        </p:nvGrpSpPr>
        <p:grpSpPr>
          <a:xfrm>
            <a:off x="677418" y="1307782"/>
            <a:ext cx="2061962" cy="322707"/>
            <a:chOff x="677418" y="1307782"/>
            <a:chExt cx="2061962" cy="322707"/>
          </a:xfrm>
        </p:grpSpPr>
        <p:sp>
          <p:nvSpPr>
            <p:cNvPr id="2" name="TextBox 2"/>
            <p:cNvSpPr txBox="1"/>
            <p:nvPr/>
          </p:nvSpPr>
          <p:spPr>
            <a:xfrm>
              <a:off x="677418" y="1307782"/>
              <a:ext cx="206196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周末错题讲评 · 初三</a:t>
              </a:r>
            </a:p>
          </p:txBody>
        </p:sp>
      </p:grpSp>
      <p:grpSp>
        <p:nvGrpSpPr>
          <p:cNvPr id="5" name="cover-title"/>
          <p:cNvGrpSpPr/>
          <p:nvPr/>
        </p:nvGrpSpPr>
        <p:grpSpPr>
          <a:xfrm>
            <a:off x="666750" y="2179320"/>
            <a:ext cx="6580632" cy="1047750"/>
            <a:chOff x="666750" y="2179320"/>
            <a:chExt cx="6580632" cy="1047750"/>
          </a:xfrm>
        </p:grpSpPr>
        <p:sp>
          <p:nvSpPr>
            <p:cNvPr id="4" name="TextBox 4"/>
            <p:cNvSpPr txBox="1"/>
            <p:nvPr/>
          </p:nvSpPr>
          <p:spPr>
            <a:xfrm>
              <a:off x="666750" y="2179320"/>
              <a:ext cx="6580632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本周错题，逐题讲透</a:t>
              </a:r>
            </a:p>
          </p:txBody>
        </p:sp>
      </p:grpSp>
      <p:grpSp>
        <p:nvGrpSpPr>
          <p:cNvPr id="7" name="cover-sub"/>
          <p:cNvGrpSpPr/>
          <p:nvPr/>
        </p:nvGrpSpPr>
        <p:grpSpPr>
          <a:xfrm>
            <a:off x="675894" y="3370898"/>
            <a:ext cx="8498853" cy="381381"/>
            <a:chOff x="675894" y="3370898"/>
            <a:chExt cx="8498853" cy="381381"/>
          </a:xfrm>
        </p:grpSpPr>
        <p:sp>
          <p:nvSpPr>
            <p:cNvPr id="6" name="TextBox 6"/>
            <p:cNvSpPr txBox="1"/>
            <p:nvPr/>
          </p:nvSpPr>
          <p:spPr>
            <a:xfrm>
              <a:off x="675894" y="3370898"/>
              <a:ext cx="849885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2026-09-11 ~ 2026-09-18 · 张诗蕊、李哲瀚、陈施君、程思豪、丁嘉炜</a:t>
              </a:r>
            </a:p>
          </p:txBody>
        </p:sp>
      </p:grpSp>
      <p:grpSp>
        <p:nvGrpSpPr>
          <p:cNvPr id="17" name="cover-stats"/>
          <p:cNvGrpSpPr/>
          <p:nvPr/>
        </p:nvGrpSpPr>
        <p:grpSpPr>
          <a:xfrm>
            <a:off x="685800" y="4381500"/>
            <a:ext cx="9105900" cy="1333500"/>
            <a:chOff x="685800" y="4381500"/>
            <a:chExt cx="9105900" cy="1333500"/>
          </a:xfrm>
        </p:grpSpPr>
        <p:sp>
          <p:nvSpPr>
            <p:cNvPr id="8" name="Rectangle 8"/>
            <p:cNvSpPr/>
            <p:nvPr/>
          </p:nvSpPr>
          <p:spPr>
            <a:xfrm>
              <a:off x="685800" y="4381500"/>
              <a:ext cx="3238500" cy="1333500"/>
            </a:xfrm>
            <a:prstGeom prst="roundRect">
              <a:avLst>
                <a:gd name="adj" fmla="val 1428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47750" y="4657725"/>
              <a:ext cx="737787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59180" y="536257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错题（含完整多小问）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191000" y="4381500"/>
              <a:ext cx="2667000" cy="1333500"/>
            </a:xfrm>
            <a:prstGeom prst="roundRect">
              <a:avLst>
                <a:gd name="adj" fmla="val 1428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552950" y="4657725"/>
              <a:ext cx="387944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564380" y="536257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有课日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124700" y="4381500"/>
              <a:ext cx="2667000" cy="1333500"/>
            </a:xfrm>
            <a:prstGeom prst="roundRect">
              <a:avLst>
                <a:gd name="adj" fmla="val 1428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486650" y="4657725"/>
              <a:ext cx="387944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498080" y="536257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学生</a:t>
              </a:r>
            </a:p>
          </p:txBody>
        </p:sp>
      </p:grpSp>
      <p:grpSp>
        <p:nvGrpSpPr>
          <p:cNvPr id="19" name="cover-hint"/>
          <p:cNvGrpSpPr/>
          <p:nvPr/>
        </p:nvGrpSpPr>
        <p:grpSpPr>
          <a:xfrm>
            <a:off x="678942" y="6331268"/>
            <a:ext cx="2376297" cy="264033"/>
            <a:chOff x="678942" y="6331268"/>
            <a:chExt cx="2376297" cy="264033"/>
          </a:xfrm>
        </p:grpSpPr>
        <p:sp>
          <p:nvSpPr>
            <p:cNvPr id="18" name="TextBox 18"/>
            <p:cNvSpPr txBox="1"/>
            <p:nvPr/>
          </p:nvSpPr>
          <p:spPr>
            <a:xfrm>
              <a:off x="678942" y="633126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放映时单击一次浮现参考答案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c-accent"/>
          <p:cNvSpPr/>
          <p:nvPr/>
        </p:nvSpPr>
        <p:spPr>
          <a:xfrm>
            <a:off x="685800" y="495300"/>
            <a:ext cx="76200" cy="4953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5" name="toc-title"/>
          <p:cNvGrpSpPr/>
          <p:nvPr/>
        </p:nvGrpSpPr>
        <p:grpSpPr>
          <a:xfrm>
            <a:off x="972312" y="525780"/>
            <a:ext cx="7513110" cy="704088"/>
            <a:chOff x="972312" y="525780"/>
            <a:chExt cx="7513110" cy="704088"/>
          </a:xfrm>
        </p:grpSpPr>
        <p:sp>
          <p:nvSpPr>
            <p:cNvPr id="3" name="TextBox 3"/>
            <p:cNvSpPr txBox="1"/>
            <p:nvPr/>
          </p:nvSpPr>
          <p:spPr>
            <a:xfrm>
              <a:off x="972312" y="525780"/>
              <a:ext cx="294436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本份课件目录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325618" y="698182"/>
              <a:ext cx="315980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按日期倒序 · 每天内部由易到难</a:t>
              </a:r>
            </a:p>
          </p:txBody>
        </p:sp>
      </p:grpSp>
      <p:grpSp>
        <p:nvGrpSpPr>
          <p:cNvPr id="54" name="toc-table"/>
          <p:cNvGrpSpPr/>
          <p:nvPr/>
        </p:nvGrpSpPr>
        <p:grpSpPr>
          <a:xfrm>
            <a:off x="675894" y="1549718"/>
            <a:ext cx="10840212" cy="3469957"/>
            <a:chOff x="675894" y="1549718"/>
            <a:chExt cx="10840212" cy="346995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5497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日期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344668" y="15497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题数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678168" y="15497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学生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011668" y="15497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基础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964168" y="15497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中等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011918" y="15497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较难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954131" y="154971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未判定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85800" y="1866900"/>
              <a:ext cx="10820400" cy="9525"/>
            </a:xfrm>
            <a:prstGeom prst="rect">
              <a:avLst/>
            </a:prstGeom>
            <a:solidFill>
              <a:srgbClr val="D2D2D7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75894" y="1980248"/>
              <a:ext cx="153580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2026-09-16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560714" y="1980248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894214" y="1980248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227714" y="1980248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180214" y="1980248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227964" y="1980248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351914" y="1980248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85800" y="2495550"/>
              <a:ext cx="10820400" cy="9525"/>
            </a:xfrm>
            <a:prstGeom prst="rect">
              <a:avLst/>
            </a:prstGeom>
            <a:solidFill>
              <a:srgbClr val="D2D2D7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75894" y="2608898"/>
              <a:ext cx="153580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2026-09-15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560714" y="2608898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894214" y="2608898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227714" y="2608898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180214" y="2608898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227964" y="2608898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351914" y="2608898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85800" y="3124200"/>
              <a:ext cx="10820400" cy="9525"/>
            </a:xfrm>
            <a:prstGeom prst="rect">
              <a:avLst/>
            </a:prstGeom>
            <a:solidFill>
              <a:srgbClr val="D2D2D7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75894" y="3237548"/>
              <a:ext cx="153580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2026-09-13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416334" y="3237548"/>
              <a:ext cx="30857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894214" y="3237548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227714" y="3237548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180214" y="3237548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227964" y="3237548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351914" y="3237548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85800" y="3752850"/>
              <a:ext cx="10820400" cy="9525"/>
            </a:xfrm>
            <a:prstGeom prst="rect">
              <a:avLst/>
            </a:prstGeom>
            <a:solidFill>
              <a:srgbClr val="D2D2D7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75894" y="3866198"/>
              <a:ext cx="153580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2026-09-12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560714" y="3866198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894214" y="3866198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227714" y="3866198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180214" y="3866198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227964" y="3866198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351914" y="3866198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85800" y="4381500"/>
              <a:ext cx="10820400" cy="9525"/>
            </a:xfrm>
            <a:prstGeom prst="rect">
              <a:avLst/>
            </a:prstGeom>
            <a:solidFill>
              <a:srgbClr val="D2D2D7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75894" y="4494848"/>
              <a:ext cx="153580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2026-09-11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560714" y="4494848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894214" y="4494848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227714" y="4494848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180214" y="4494848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227964" y="4494848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351914" y="4494848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85800" y="5010150"/>
              <a:ext cx="10820400" cy="9525"/>
            </a:xfrm>
            <a:prstGeom prst="rect">
              <a:avLst/>
            </a:prstGeom>
            <a:solidFill>
              <a:srgbClr val="D2D2D7"/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-field"/>
          <p:cNvSpPr/>
          <p:nvPr/>
        </p:nvSpPr>
        <p:spPr>
          <a:xfrm>
            <a:off x="0" y="0"/>
            <a:ext cx="12192000" cy="304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3" name="chapter-accent"/>
          <p:cNvSpPr/>
          <p:nvPr/>
        </p:nvSpPr>
        <p:spPr>
          <a:xfrm>
            <a:off x="685800" y="2895600"/>
            <a:ext cx="76200" cy="1143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8" name="chapter-head"/>
          <p:cNvGrpSpPr/>
          <p:nvPr/>
        </p:nvGrpSpPr>
        <p:grpSpPr>
          <a:xfrm>
            <a:off x="677418" y="1041082"/>
            <a:ext cx="4025798" cy="3281363"/>
            <a:chOff x="677418" y="1041082"/>
            <a:chExt cx="4025798" cy="3281363"/>
          </a:xfrm>
        </p:grpSpPr>
        <p:sp>
          <p:nvSpPr>
            <p:cNvPr id="4" name="TextBox 4"/>
            <p:cNvSpPr txBox="1"/>
            <p:nvPr/>
          </p:nvSpPr>
          <p:spPr>
            <a:xfrm>
              <a:off x="677418" y="1041082"/>
              <a:ext cx="185267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SECTION 01 / 05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33450" y="2529840"/>
              <a:ext cx="3769766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2026-09-16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41832" y="3507105"/>
              <a:ext cx="308865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 题 · 中等 1 · 1 名学生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44880" y="402907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错的学生：张诗蕊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q01-header"/>
          <p:cNvGrpSpPr/>
          <p:nvPr/>
        </p:nvGrpSpPr>
        <p:grpSpPr>
          <a:xfrm>
            <a:off x="685800" y="381000"/>
            <a:ext cx="10820400" cy="700088"/>
            <a:chOff x="685800" y="381000"/>
            <a:chExt cx="10820400" cy="700088"/>
          </a:xfrm>
        </p:grpSpPr>
        <p:sp>
          <p:nvSpPr>
            <p:cNvPr id="2" name="Rectangle 2"/>
            <p:cNvSpPr/>
            <p:nvPr/>
          </p:nvSpPr>
          <p:spPr>
            <a:xfrm>
              <a:off x="685800" y="381000"/>
              <a:ext cx="609600" cy="609600"/>
            </a:xfrm>
            <a:prstGeom prst="roundRect">
              <a:avLst>
                <a:gd name="adj" fmla="val 25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71931" y="489585"/>
              <a:ext cx="23733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478280" y="447675"/>
              <a:ext cx="19638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2026-09-16 · 填空题</a:t>
              </a:r>
            </a:p>
          </p:txBody>
        </p:sp>
        <p:sp>
          <p:nvSpPr>
            <p:cNvPr id="5" name="Ellipse 5"/>
            <p:cNvSpPr/>
            <p:nvPr/>
          </p:nvSpPr>
          <p:spPr>
            <a:xfrm>
              <a:off x="1514475" y="771525"/>
              <a:ext cx="95250" cy="952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704975" y="771525"/>
              <a:ext cx="95250" cy="952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895475" y="771525"/>
              <a:ext cx="95250" cy="95250"/>
            </a:xfrm>
            <a:prstGeom prst="ellipse">
              <a:avLst/>
            </a:prstGeom>
            <a:solidFill>
              <a:srgbClr val="D2D2D7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2085975" y="771525"/>
              <a:ext cx="95250" cy="95250"/>
            </a:xfrm>
            <a:prstGeom prst="ellipse">
              <a:avLst/>
            </a:prstGeom>
            <a:solidFill>
              <a:srgbClr val="D2D2D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354580" y="714375"/>
              <a:ext cx="12470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难度 3 · 中等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326380" y="714375"/>
              <a:ext cx="5993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1 人错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85800" y="1066800"/>
              <a:ext cx="10820400" cy="14288"/>
            </a:xfrm>
            <a:prstGeom prst="rect">
              <a:avLst/>
            </a:prstGeom>
            <a:solidFill>
              <a:srgbClr val="D2D2D7"/>
            </a:solidFill>
            <a:ln>
              <a:noFill/>
            </a:ln>
          </p:spPr>
        </p:sp>
      </p:grpSp>
      <p:grpSp>
        <p:nvGrpSpPr>
          <p:cNvPr id="15" name="q01-stem"/>
          <p:cNvGrpSpPr/>
          <p:nvPr/>
        </p:nvGrpSpPr>
        <p:grpSpPr>
          <a:xfrm>
            <a:off x="674370" y="1662112"/>
            <a:ext cx="8465915" cy="859155"/>
            <a:chOff x="674370" y="1662112"/>
            <a:chExt cx="8465915" cy="859155"/>
          </a:xfrm>
        </p:grpSpPr>
        <p:sp>
          <p:nvSpPr>
            <p:cNvPr id="13" name="TextBox 13"/>
            <p:cNvSpPr txBox="1"/>
            <p:nvPr/>
          </p:nvSpPr>
          <p:spPr>
            <a:xfrm>
              <a:off x="674370" y="1662112"/>
              <a:ext cx="846591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已知在△ABC中，三边长a=2,b=4,c=3,h_a、h_b、h_c分别为边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4370" y="2081212"/>
              <a:ext cx="577786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a、b、c上的高，那么h_a:h_b:h_c=____.</a:t>
              </a:r>
            </a:p>
          </p:txBody>
        </p:sp>
      </p:grpSp>
      <p:grpSp>
        <p:nvGrpSpPr>
          <p:cNvPr id="20" name="q01-answer"/>
          <p:cNvGrpSpPr/>
          <p:nvPr/>
        </p:nvGrpSpPr>
        <p:grpSpPr>
          <a:xfrm>
            <a:off x="685800" y="2895600"/>
            <a:ext cx="10820400" cy="723900"/>
            <a:chOff x="685800" y="2895600"/>
            <a:chExt cx="10820400" cy="723900"/>
          </a:xfrm>
        </p:grpSpPr>
        <p:sp>
          <p:nvSpPr>
            <p:cNvPr id="16" name="Rectangle 16"/>
            <p:cNvSpPr/>
            <p:nvPr/>
          </p:nvSpPr>
          <p:spPr>
            <a:xfrm>
              <a:off x="685800" y="2895600"/>
              <a:ext cx="10820400" cy="723900"/>
            </a:xfrm>
            <a:prstGeom prst="roundRect">
              <a:avLst>
                <a:gd name="adj" fmla="val 2105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685800" y="2895600"/>
              <a:ext cx="57150" cy="723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70204" y="2975610"/>
              <a:ext cx="18226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参考答案 · 练习册答案库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65632" y="3164205"/>
              <a:ext cx="83763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6:3:4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-field"/>
          <p:cNvSpPr/>
          <p:nvPr/>
        </p:nvSpPr>
        <p:spPr>
          <a:xfrm>
            <a:off x="0" y="0"/>
            <a:ext cx="12192000" cy="304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3" name="chapter-accent"/>
          <p:cNvSpPr/>
          <p:nvPr/>
        </p:nvSpPr>
        <p:spPr>
          <a:xfrm>
            <a:off x="685800" y="2895600"/>
            <a:ext cx="76200" cy="1143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8" name="chapter-head"/>
          <p:cNvGrpSpPr/>
          <p:nvPr/>
        </p:nvGrpSpPr>
        <p:grpSpPr>
          <a:xfrm>
            <a:off x="677418" y="1041082"/>
            <a:ext cx="5614683" cy="3281363"/>
            <a:chOff x="677418" y="1041082"/>
            <a:chExt cx="5614683" cy="3281363"/>
          </a:xfrm>
        </p:grpSpPr>
        <p:sp>
          <p:nvSpPr>
            <p:cNvPr id="4" name="TextBox 4"/>
            <p:cNvSpPr txBox="1"/>
            <p:nvPr/>
          </p:nvSpPr>
          <p:spPr>
            <a:xfrm>
              <a:off x="677418" y="1041082"/>
              <a:ext cx="185267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SECTION 02 / 05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33450" y="2529840"/>
              <a:ext cx="3769766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2026-09-15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41832" y="3507105"/>
              <a:ext cx="535026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9 题 · 基础 2 · 中等 3 · 较难 4 · 4 名学生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44880" y="4029075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错的学生：陈施君、程思豪、李哲瀚、张诗蕊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q02-header"/>
          <p:cNvGrpSpPr/>
          <p:nvPr/>
        </p:nvGrpSpPr>
        <p:grpSpPr>
          <a:xfrm>
            <a:off x="685800" y="381000"/>
            <a:ext cx="10820400" cy="700088"/>
            <a:chOff x="685800" y="381000"/>
            <a:chExt cx="10820400" cy="700088"/>
          </a:xfrm>
        </p:grpSpPr>
        <p:sp>
          <p:nvSpPr>
            <p:cNvPr id="2" name="Rectangle 2"/>
            <p:cNvSpPr/>
            <p:nvPr/>
          </p:nvSpPr>
          <p:spPr>
            <a:xfrm>
              <a:off x="685800" y="381000"/>
              <a:ext cx="609600" cy="609600"/>
            </a:xfrm>
            <a:prstGeom prst="roundRect">
              <a:avLst>
                <a:gd name="adj" fmla="val 25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71931" y="489585"/>
              <a:ext cx="23733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478280" y="447675"/>
              <a:ext cx="19638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2026-09-15 · 解答题</a:t>
              </a:r>
            </a:p>
          </p:txBody>
        </p:sp>
        <p:sp>
          <p:nvSpPr>
            <p:cNvPr id="5" name="Ellipse 5"/>
            <p:cNvSpPr/>
            <p:nvPr/>
          </p:nvSpPr>
          <p:spPr>
            <a:xfrm>
              <a:off x="1514475" y="771525"/>
              <a:ext cx="95250" cy="952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704975" y="771525"/>
              <a:ext cx="95250" cy="952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895475" y="771525"/>
              <a:ext cx="95250" cy="95250"/>
            </a:xfrm>
            <a:prstGeom prst="ellipse">
              <a:avLst/>
            </a:prstGeom>
            <a:solidFill>
              <a:srgbClr val="D2D2D7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2085975" y="771525"/>
              <a:ext cx="95250" cy="95250"/>
            </a:xfrm>
            <a:prstGeom prst="ellipse">
              <a:avLst/>
            </a:prstGeom>
            <a:solidFill>
              <a:srgbClr val="D2D2D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354580" y="714375"/>
              <a:ext cx="12470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难度 2 · 基础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326380" y="714375"/>
              <a:ext cx="5993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1 人错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85800" y="1066800"/>
              <a:ext cx="10820400" cy="14288"/>
            </a:xfrm>
            <a:prstGeom prst="rect">
              <a:avLst/>
            </a:prstGeom>
            <a:solidFill>
              <a:srgbClr val="D2D2D7"/>
            </a:solidFill>
            <a:ln>
              <a:noFill/>
            </a:ln>
          </p:spPr>
        </p:sp>
      </p:grpSp>
      <p:grpSp>
        <p:nvGrpSpPr>
          <p:cNvPr id="16" name="q02-stem"/>
          <p:cNvGrpSpPr/>
          <p:nvPr/>
        </p:nvGrpSpPr>
        <p:grpSpPr>
          <a:xfrm>
            <a:off x="864870" y="2614612"/>
            <a:ext cx="4414838" cy="1278255"/>
            <a:chOff x="864870" y="2614612"/>
            <a:chExt cx="4414838" cy="1278255"/>
          </a:xfrm>
        </p:grpSpPr>
        <p:sp>
          <p:nvSpPr>
            <p:cNvPr id="13" name="TextBox 13"/>
            <p:cNvSpPr txBox="1"/>
            <p:nvPr/>
          </p:nvSpPr>
          <p:spPr>
            <a:xfrm>
              <a:off x="864870" y="2614612"/>
              <a:ext cx="441483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(1) 抛物线的顶点坐标和增减性;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64870" y="3033712"/>
              <a:ext cx="216770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(2) 点B的坐标;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64870" y="3452812"/>
              <a:ext cx="2426303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(3) △ABC的面积.</a:t>
              </a:r>
            </a:p>
          </p:txBody>
        </p:sp>
      </p:grpSp>
      <p:grpSp>
        <p:nvGrpSpPr>
          <p:cNvPr id="19" name="q02-figure"/>
          <p:cNvGrpSpPr/>
          <p:nvPr/>
        </p:nvGrpSpPr>
        <p:grpSpPr>
          <a:xfrm>
            <a:off x="9601200" y="1428750"/>
            <a:ext cx="1905000" cy="2762250"/>
            <a:chOff x="9601200" y="1428750"/>
            <a:chExt cx="1905000" cy="2762250"/>
          </a:xfrm>
        </p:grpSpPr>
        <p:sp>
          <p:nvSpPr>
            <p:cNvPr id="17" name="Rectangle 17"/>
            <p:cNvSpPr/>
            <p:nvPr/>
          </p:nvSpPr>
          <p:spPr>
            <a:xfrm>
              <a:off x="9601200" y="1428750"/>
              <a:ext cx="1905000" cy="2762250"/>
            </a:xfrm>
            <a:prstGeom prst="roundRect">
              <a:avLst>
                <a:gd name="adj" fmla="val 8000"/>
              </a:avLst>
            </a:prstGeom>
            <a:solidFill>
              <a:schemeClr val="lt2"/>
            </a:solidFill>
            <a:ln>
              <a:noFill/>
            </a:ln>
          </p:spPr>
        </p:sp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84810" y="1619250"/>
              <a:ext cx="1337781" cy="2381250"/>
            </a:xfrm>
            <a:prstGeom prst="rect">
              <a:avLst/>
            </a:prstGeom>
          </p:spPr>
        </p:pic>
      </p:grpSp>
      <p:grpSp>
        <p:nvGrpSpPr>
          <p:cNvPr id="24" name="q02-answer"/>
          <p:cNvGrpSpPr/>
          <p:nvPr/>
        </p:nvGrpSpPr>
        <p:grpSpPr>
          <a:xfrm>
            <a:off x="685800" y="4267200"/>
            <a:ext cx="10820400" cy="1866900"/>
            <a:chOff x="685800" y="4267200"/>
            <a:chExt cx="10820400" cy="1866900"/>
          </a:xfrm>
        </p:grpSpPr>
        <p:sp>
          <p:nvSpPr>
            <p:cNvPr id="20" name="Rectangle 20"/>
            <p:cNvSpPr/>
            <p:nvPr/>
          </p:nvSpPr>
          <p:spPr>
            <a:xfrm>
              <a:off x="685800" y="4267200"/>
              <a:ext cx="10820400" cy="1866900"/>
            </a:xfrm>
            <a:prstGeom prst="roundRect">
              <a:avLst>
                <a:gd name="adj" fmla="val 816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685800" y="4267200"/>
              <a:ext cx="57150" cy="1866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70204" y="4347210"/>
              <a:ext cx="18226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参考答案 · 练习册答案库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65632" y="4554855"/>
              <a:ext cx="8864441" cy="1172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如图，过点 C 作 CD⊥AB，垂足为 D。设 AD 为 a(a&gt;0)。∵△ABC 为等边三</a:t>
              </a:r>
              <a:br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角形，CD⊥AB，∴AD=DB=a，∠ACD=30°，∴CD=√3a。∴点 B 的坐标为 (2+a,</a:t>
              </a:r>
              <a:br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√3a)，∴√3a=2(2+a-2)²，∴a=√3/2，∴B((4+√3)/2, 3/2)。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0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q03-header"/>
          <p:cNvGrpSpPr/>
          <p:nvPr/>
        </p:nvGrpSpPr>
        <p:grpSpPr>
          <a:xfrm>
            <a:off x="685800" y="381000"/>
            <a:ext cx="10820400" cy="700088"/>
            <a:chOff x="685800" y="381000"/>
            <a:chExt cx="10820400" cy="700088"/>
          </a:xfrm>
        </p:grpSpPr>
        <p:sp>
          <p:nvSpPr>
            <p:cNvPr id="2" name="Rectangle 2"/>
            <p:cNvSpPr/>
            <p:nvPr/>
          </p:nvSpPr>
          <p:spPr>
            <a:xfrm>
              <a:off x="685800" y="381000"/>
              <a:ext cx="609600" cy="609600"/>
            </a:xfrm>
            <a:prstGeom prst="roundRect">
              <a:avLst>
                <a:gd name="adj" fmla="val 25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71931" y="489585"/>
              <a:ext cx="23733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478280" y="447675"/>
              <a:ext cx="19638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2026-09-15 · 解答题</a:t>
              </a:r>
            </a:p>
          </p:txBody>
        </p:sp>
        <p:sp>
          <p:nvSpPr>
            <p:cNvPr id="5" name="Ellipse 5"/>
            <p:cNvSpPr/>
            <p:nvPr/>
          </p:nvSpPr>
          <p:spPr>
            <a:xfrm>
              <a:off x="1514475" y="771525"/>
              <a:ext cx="95250" cy="952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704975" y="771525"/>
              <a:ext cx="95250" cy="952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895475" y="771525"/>
              <a:ext cx="95250" cy="95250"/>
            </a:xfrm>
            <a:prstGeom prst="ellipse">
              <a:avLst/>
            </a:prstGeom>
            <a:solidFill>
              <a:srgbClr val="D2D2D7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2085975" y="771525"/>
              <a:ext cx="95250" cy="95250"/>
            </a:xfrm>
            <a:prstGeom prst="ellipse">
              <a:avLst/>
            </a:prstGeom>
            <a:solidFill>
              <a:srgbClr val="D2D2D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354580" y="714375"/>
              <a:ext cx="12470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难度 2 · 基础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326380" y="714375"/>
              <a:ext cx="5993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1 人错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85800" y="1066800"/>
              <a:ext cx="10820400" cy="14288"/>
            </a:xfrm>
            <a:prstGeom prst="rect">
              <a:avLst/>
            </a:prstGeom>
            <a:solidFill>
              <a:srgbClr val="D2D2D7"/>
            </a:solidFill>
            <a:ln>
              <a:noFill/>
            </a:ln>
          </p:spPr>
        </p:sp>
      </p:grpSp>
      <p:grpSp>
        <p:nvGrpSpPr>
          <p:cNvPr id="16" name="q03-stem"/>
          <p:cNvGrpSpPr/>
          <p:nvPr/>
        </p:nvGrpSpPr>
        <p:grpSpPr>
          <a:xfrm>
            <a:off x="864870" y="2138362"/>
            <a:ext cx="8469058" cy="1278255"/>
            <a:chOff x="864870" y="2138362"/>
            <a:chExt cx="8469058" cy="1278255"/>
          </a:xfrm>
        </p:grpSpPr>
        <p:sp>
          <p:nvSpPr>
            <p:cNvPr id="13" name="TextBox 13"/>
            <p:cNvSpPr txBox="1"/>
            <p:nvPr/>
          </p:nvSpPr>
          <p:spPr>
            <a:xfrm>
              <a:off x="864870" y="2138362"/>
              <a:ext cx="565670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(1) 求该二次函数图像与x轴、y轴的交点;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64870" y="2557462"/>
              <a:ext cx="846905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(2) 在平面直角坐标系xOy中,画出二次函数y=x²-2x-3的图像;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64870" y="2976562"/>
              <a:ext cx="7428643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(3) 结合函数图像,直接写出当-4≤y≤0时,x的取值范围.</a:t>
              </a:r>
            </a:p>
          </p:txBody>
        </p:sp>
      </p:grpSp>
      <p:grpSp>
        <p:nvGrpSpPr>
          <p:cNvPr id="21" name="q03-answer"/>
          <p:cNvGrpSpPr/>
          <p:nvPr/>
        </p:nvGrpSpPr>
        <p:grpSpPr>
          <a:xfrm>
            <a:off x="685800" y="3790950"/>
            <a:ext cx="10820400" cy="1104900"/>
            <a:chOff x="685800" y="3790950"/>
            <a:chExt cx="10820400" cy="1104900"/>
          </a:xfrm>
        </p:grpSpPr>
        <p:sp>
          <p:nvSpPr>
            <p:cNvPr id="17" name="Rectangle 17"/>
            <p:cNvSpPr/>
            <p:nvPr/>
          </p:nvSpPr>
          <p:spPr>
            <a:xfrm>
              <a:off x="685800" y="3790950"/>
              <a:ext cx="10820400" cy="1104900"/>
            </a:xfrm>
            <a:prstGeom prst="roundRect">
              <a:avLst>
                <a:gd name="adj" fmla="val 1379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685800" y="3790950"/>
              <a:ext cx="57150" cy="1104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70204" y="3870960"/>
              <a:ext cx="18226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参考答案 · 练习册答案库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65632" y="4078605"/>
              <a:ext cx="9246489" cy="791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解：(1)当 y=0 时，x²-2x-3=0，解得 x₁=-1，x₂=3，∴抛物线与 x 轴的交点</a:t>
              </a:r>
              <a:br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坐标为 (-1,0)、(3,0)。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q04-header"/>
          <p:cNvGrpSpPr/>
          <p:nvPr/>
        </p:nvGrpSpPr>
        <p:grpSpPr>
          <a:xfrm>
            <a:off x="685800" y="381000"/>
            <a:ext cx="10820400" cy="700088"/>
            <a:chOff x="685800" y="381000"/>
            <a:chExt cx="10820400" cy="700088"/>
          </a:xfrm>
        </p:grpSpPr>
        <p:sp>
          <p:nvSpPr>
            <p:cNvPr id="2" name="Rectangle 2"/>
            <p:cNvSpPr/>
            <p:nvPr/>
          </p:nvSpPr>
          <p:spPr>
            <a:xfrm>
              <a:off x="685800" y="381000"/>
              <a:ext cx="609600" cy="609600"/>
            </a:xfrm>
            <a:prstGeom prst="roundRect">
              <a:avLst>
                <a:gd name="adj" fmla="val 25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71931" y="489585"/>
              <a:ext cx="23733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478280" y="447675"/>
              <a:ext cx="19638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2026-09-15 · 解答题</a:t>
              </a:r>
            </a:p>
          </p:txBody>
        </p:sp>
        <p:sp>
          <p:nvSpPr>
            <p:cNvPr id="5" name="Ellipse 5"/>
            <p:cNvSpPr/>
            <p:nvPr/>
          </p:nvSpPr>
          <p:spPr>
            <a:xfrm>
              <a:off x="1514475" y="771525"/>
              <a:ext cx="95250" cy="952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704975" y="771525"/>
              <a:ext cx="95250" cy="952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895475" y="771525"/>
              <a:ext cx="95250" cy="952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2085975" y="771525"/>
              <a:ext cx="95250" cy="95250"/>
            </a:xfrm>
            <a:prstGeom prst="ellipse">
              <a:avLst/>
            </a:prstGeom>
            <a:solidFill>
              <a:srgbClr val="D2D2D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354580" y="714375"/>
              <a:ext cx="12470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难度 3 · 中等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326380" y="714375"/>
              <a:ext cx="5993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1 人错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85800" y="1066800"/>
              <a:ext cx="10820400" cy="14288"/>
            </a:xfrm>
            <a:prstGeom prst="rect">
              <a:avLst/>
            </a:prstGeom>
            <a:solidFill>
              <a:srgbClr val="D2D2D7"/>
            </a:solidFill>
            <a:ln>
              <a:noFill/>
            </a:ln>
          </p:spPr>
        </p:sp>
      </p:grpSp>
      <p:grpSp>
        <p:nvGrpSpPr>
          <p:cNvPr id="16" name="q04-stem"/>
          <p:cNvGrpSpPr/>
          <p:nvPr/>
        </p:nvGrpSpPr>
        <p:grpSpPr>
          <a:xfrm>
            <a:off x="675132" y="1392555"/>
            <a:ext cx="9435846" cy="2645474"/>
            <a:chOff x="675132" y="1392555"/>
            <a:chExt cx="9435846" cy="2645474"/>
          </a:xfrm>
        </p:grpSpPr>
        <p:sp>
          <p:nvSpPr>
            <p:cNvPr id="13" name="TextBox 13"/>
            <p:cNvSpPr txBox="1"/>
            <p:nvPr/>
          </p:nvSpPr>
          <p:spPr>
            <a:xfrm>
              <a:off x="675132" y="1392555"/>
              <a:ext cx="9435846" cy="1553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在平面直角坐标系 xOy 中，将直线 l: y=-3/4x-3 沿 x 轴翻折，得到一条新直线</a:t>
              </a:r>
              <a:br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与 x 轴交于点 A，与 y 轴交于点 B，将抛物线 C₁: y=1/3x² 沿 x 轴平移，得到</a:t>
              </a:r>
              <a:br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一条新抛物线 C₂ 与 y 轴交于点 D，与直线 AB 交于点 E、F，连接 DF，满足</a:t>
              </a:r>
              <a:br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DF//x 轴. 求：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66394" y="3313748"/>
              <a:ext cx="255624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(1) 直线AB的表达式;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66394" y="3656648"/>
              <a:ext cx="281875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(2) 抛物线C₂的表达式.</a:t>
              </a:r>
            </a:p>
          </p:txBody>
        </p:sp>
      </p:grpSp>
      <p:grpSp>
        <p:nvGrpSpPr>
          <p:cNvPr id="21" name="q04-answer"/>
          <p:cNvGrpSpPr/>
          <p:nvPr/>
        </p:nvGrpSpPr>
        <p:grpSpPr>
          <a:xfrm>
            <a:off x="685800" y="4362450"/>
            <a:ext cx="10820400" cy="1532286"/>
            <a:chOff x="685800" y="4362450"/>
            <a:chExt cx="10820400" cy="1532286"/>
          </a:xfrm>
        </p:grpSpPr>
        <p:sp>
          <p:nvSpPr>
            <p:cNvPr id="17" name="Rectangle 17"/>
            <p:cNvSpPr/>
            <p:nvPr/>
          </p:nvSpPr>
          <p:spPr>
            <a:xfrm>
              <a:off x="685800" y="4362450"/>
              <a:ext cx="10820400" cy="15240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685800" y="4362450"/>
              <a:ext cx="57150" cy="15240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70204" y="4442460"/>
              <a:ext cx="18226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参考答案 · 练习册答案库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67537" y="4671536"/>
              <a:ext cx="7885189" cy="1223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zh-CN" sz="17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设平移后抛物线 C₂ 的顶点为 P(n,0)，则抛物线 C₂ 的表达式为 y=1/3(x-n)²，</a:t>
              </a:r>
              <a:br/>
              <a:r>
                <a:rPr lang="zh-CN" sz="17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∴D(0, 1/3n²)。∵DF//x 轴，∴点 F(2n, 1/3n²)。又点 F 在直线 AB 上，</a:t>
              </a:r>
              <a:br/>
              <a:r>
                <a:rPr lang="zh-CN" sz="17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∴1/3n²=3/4×2n+3，解得 n₁=6, n₂=-3/2。∴抛物线 C₂ 的表达式为</a:t>
              </a:r>
              <a:br/>
              <a:r>
                <a:rPr lang="zh-CN" sz="17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y=1/3(x-6)² 或 y=1/3(x+3/2)²。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q05-header"/>
          <p:cNvGrpSpPr/>
          <p:nvPr/>
        </p:nvGrpSpPr>
        <p:grpSpPr>
          <a:xfrm>
            <a:off x="685800" y="381000"/>
            <a:ext cx="10820400" cy="700088"/>
            <a:chOff x="685800" y="381000"/>
            <a:chExt cx="10820400" cy="700088"/>
          </a:xfrm>
        </p:grpSpPr>
        <p:sp>
          <p:nvSpPr>
            <p:cNvPr id="2" name="Rectangle 2"/>
            <p:cNvSpPr/>
            <p:nvPr/>
          </p:nvSpPr>
          <p:spPr>
            <a:xfrm>
              <a:off x="685800" y="381000"/>
              <a:ext cx="609600" cy="609600"/>
            </a:xfrm>
            <a:prstGeom prst="roundRect">
              <a:avLst>
                <a:gd name="adj" fmla="val 25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71931" y="489585"/>
              <a:ext cx="23733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478280" y="447675"/>
              <a:ext cx="19638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2026-09-15 · 解答题</a:t>
              </a:r>
            </a:p>
          </p:txBody>
        </p:sp>
        <p:sp>
          <p:nvSpPr>
            <p:cNvPr id="5" name="Ellipse 5"/>
            <p:cNvSpPr/>
            <p:nvPr/>
          </p:nvSpPr>
          <p:spPr>
            <a:xfrm>
              <a:off x="1514475" y="771525"/>
              <a:ext cx="95250" cy="952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704975" y="771525"/>
              <a:ext cx="95250" cy="952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895475" y="771525"/>
              <a:ext cx="95250" cy="952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2085975" y="771525"/>
              <a:ext cx="95250" cy="95250"/>
            </a:xfrm>
            <a:prstGeom prst="ellipse">
              <a:avLst/>
            </a:prstGeom>
            <a:solidFill>
              <a:srgbClr val="D2D2D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354580" y="714375"/>
              <a:ext cx="12470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难度 3 · 中等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326380" y="714375"/>
              <a:ext cx="5993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1 人错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85800" y="1066800"/>
              <a:ext cx="10820400" cy="14288"/>
            </a:xfrm>
            <a:prstGeom prst="rect">
              <a:avLst/>
            </a:prstGeom>
            <a:solidFill>
              <a:srgbClr val="D2D2D7"/>
            </a:solidFill>
            <a:ln>
              <a:noFill/>
            </a:ln>
          </p:spPr>
        </p:sp>
      </p:grpSp>
      <p:grpSp>
        <p:nvGrpSpPr>
          <p:cNvPr id="15" name="q05-stem"/>
          <p:cNvGrpSpPr/>
          <p:nvPr/>
        </p:nvGrpSpPr>
        <p:grpSpPr>
          <a:xfrm>
            <a:off x="674370" y="1662112"/>
            <a:ext cx="8185880" cy="859155"/>
            <a:chOff x="674370" y="1662112"/>
            <a:chExt cx="8185880" cy="859155"/>
          </a:xfrm>
        </p:grpSpPr>
        <p:sp>
          <p:nvSpPr>
            <p:cNvPr id="13" name="TextBox 13"/>
            <p:cNvSpPr txBox="1"/>
            <p:nvPr/>
          </p:nvSpPr>
          <p:spPr>
            <a:xfrm>
              <a:off x="674370" y="1662112"/>
              <a:ext cx="818588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3.如图,已知关于x的二次函数 y=-1/2x²+bx+c 的图像如图所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4370" y="2081212"/>
              <a:ext cx="412708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示,则这个二次函数的表达式为</a:t>
              </a:r>
            </a:p>
          </p:txBody>
        </p:sp>
      </p:grpSp>
      <p:grpSp>
        <p:nvGrpSpPr>
          <p:cNvPr id="18" name="q05-figure"/>
          <p:cNvGrpSpPr/>
          <p:nvPr/>
        </p:nvGrpSpPr>
        <p:grpSpPr>
          <a:xfrm>
            <a:off x="9601200" y="1428750"/>
            <a:ext cx="1905000" cy="1905000"/>
            <a:chOff x="9601200" y="1428750"/>
            <a:chExt cx="1905000" cy="1905000"/>
          </a:xfrm>
        </p:grpSpPr>
        <p:sp>
          <p:nvSpPr>
            <p:cNvPr id="16" name="Rectangle 16"/>
            <p:cNvSpPr/>
            <p:nvPr/>
          </p:nvSpPr>
          <p:spPr>
            <a:xfrm>
              <a:off x="9601200" y="1428750"/>
              <a:ext cx="1905000" cy="1905000"/>
            </a:xfrm>
            <a:prstGeom prst="roundRect">
              <a:avLst>
                <a:gd name="adj" fmla="val 8000"/>
              </a:avLst>
            </a:prstGeom>
            <a:solidFill>
              <a:schemeClr val="lt2"/>
            </a:solidFill>
            <a:ln>
              <a:noFill/>
            </a:ln>
          </p:spPr>
        </p:sp>
        <p:pic>
          <p:nvPicPr>
            <p:cNvPr id="17" name="Image 1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791700" y="1760710"/>
              <a:ext cx="1524000" cy="1241079"/>
            </a:xfrm>
            <a:prstGeom prst="rect">
              <a:avLst/>
            </a:prstGeom>
          </p:spPr>
        </p:pic>
      </p:grpSp>
      <p:grpSp>
        <p:nvGrpSpPr>
          <p:cNvPr id="23" name="q05-answer"/>
          <p:cNvGrpSpPr/>
          <p:nvPr/>
        </p:nvGrpSpPr>
        <p:grpSpPr>
          <a:xfrm>
            <a:off x="685800" y="2895600"/>
            <a:ext cx="10820400" cy="723900"/>
            <a:chOff x="685800" y="2895600"/>
            <a:chExt cx="10820400" cy="723900"/>
          </a:xfrm>
        </p:grpSpPr>
        <p:sp>
          <p:nvSpPr>
            <p:cNvPr id="19" name="Rectangle 19"/>
            <p:cNvSpPr/>
            <p:nvPr/>
          </p:nvSpPr>
          <p:spPr>
            <a:xfrm>
              <a:off x="685800" y="2895600"/>
              <a:ext cx="10820400" cy="723900"/>
            </a:xfrm>
            <a:prstGeom prst="roundRect">
              <a:avLst>
                <a:gd name="adj" fmla="val 2105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85800" y="2895600"/>
              <a:ext cx="57150" cy="723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70204" y="2975610"/>
              <a:ext cx="18226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参考答案 · 练习册答案库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65632" y="3164205"/>
              <a:ext cx="247024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y=-1/2x²+2x+5/2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0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q06-header"/>
          <p:cNvGrpSpPr/>
          <p:nvPr/>
        </p:nvGrpSpPr>
        <p:grpSpPr>
          <a:xfrm>
            <a:off x="685800" y="381000"/>
            <a:ext cx="10820400" cy="700088"/>
            <a:chOff x="685800" y="381000"/>
            <a:chExt cx="10820400" cy="700088"/>
          </a:xfrm>
        </p:grpSpPr>
        <p:sp>
          <p:nvSpPr>
            <p:cNvPr id="2" name="Rectangle 2"/>
            <p:cNvSpPr/>
            <p:nvPr/>
          </p:nvSpPr>
          <p:spPr>
            <a:xfrm>
              <a:off x="685800" y="381000"/>
              <a:ext cx="609600" cy="609600"/>
            </a:xfrm>
            <a:prstGeom prst="roundRect">
              <a:avLst>
                <a:gd name="adj" fmla="val 25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71931" y="489585"/>
              <a:ext cx="23733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478280" y="447675"/>
              <a:ext cx="19638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2026-09-15 · 解答题</a:t>
              </a:r>
            </a:p>
          </p:txBody>
        </p:sp>
        <p:sp>
          <p:nvSpPr>
            <p:cNvPr id="5" name="Ellipse 5"/>
            <p:cNvSpPr/>
            <p:nvPr/>
          </p:nvSpPr>
          <p:spPr>
            <a:xfrm>
              <a:off x="1514475" y="771525"/>
              <a:ext cx="95250" cy="952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704975" y="771525"/>
              <a:ext cx="95250" cy="952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895475" y="771525"/>
              <a:ext cx="95250" cy="952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2085975" y="771525"/>
              <a:ext cx="95250" cy="95250"/>
            </a:xfrm>
            <a:prstGeom prst="ellipse">
              <a:avLst/>
            </a:prstGeom>
            <a:solidFill>
              <a:srgbClr val="D2D2D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354580" y="714375"/>
              <a:ext cx="12470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难度 3 · 中等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326380" y="714375"/>
              <a:ext cx="5993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1 人错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85800" y="1066800"/>
              <a:ext cx="10820400" cy="14288"/>
            </a:xfrm>
            <a:prstGeom prst="rect">
              <a:avLst/>
            </a:prstGeom>
            <a:solidFill>
              <a:srgbClr val="D2D2D7"/>
            </a:solidFill>
            <a:ln>
              <a:noFill/>
            </a:ln>
          </p:spPr>
        </p:sp>
      </p:grpSp>
      <p:grpSp>
        <p:nvGrpSpPr>
          <p:cNvPr id="15" name="q06-stem"/>
          <p:cNvGrpSpPr/>
          <p:nvPr/>
        </p:nvGrpSpPr>
        <p:grpSpPr>
          <a:xfrm>
            <a:off x="674370" y="1662112"/>
            <a:ext cx="7760684" cy="859155"/>
            <a:chOff x="674370" y="1662112"/>
            <a:chExt cx="7760684" cy="859155"/>
          </a:xfrm>
        </p:grpSpPr>
        <p:sp>
          <p:nvSpPr>
            <p:cNvPr id="13" name="TextBox 13"/>
            <p:cNvSpPr txBox="1"/>
            <p:nvPr/>
          </p:nvSpPr>
          <p:spPr>
            <a:xfrm>
              <a:off x="674370" y="1662112"/>
              <a:ext cx="776068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如图, 已知抛物线 y=(x-2)² 的顶点为 C, 直线 y=2x+4 与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4370" y="2081212"/>
              <a:ext cx="5521833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抛物线交于 A、B 两点, 求 △ABC 的面积.</a:t>
              </a:r>
            </a:p>
          </p:txBody>
        </p:sp>
      </p:grpSp>
      <p:grpSp>
        <p:nvGrpSpPr>
          <p:cNvPr id="18" name="q06-figure"/>
          <p:cNvGrpSpPr/>
          <p:nvPr/>
        </p:nvGrpSpPr>
        <p:grpSpPr>
          <a:xfrm>
            <a:off x="9601200" y="1428750"/>
            <a:ext cx="1905000" cy="1905000"/>
            <a:chOff x="9601200" y="1428750"/>
            <a:chExt cx="1905000" cy="1905000"/>
          </a:xfrm>
        </p:grpSpPr>
        <p:sp>
          <p:nvSpPr>
            <p:cNvPr id="16" name="Rectangle 16"/>
            <p:cNvSpPr/>
            <p:nvPr/>
          </p:nvSpPr>
          <p:spPr>
            <a:xfrm>
              <a:off x="9601200" y="1428750"/>
              <a:ext cx="1905000" cy="1905000"/>
            </a:xfrm>
            <a:prstGeom prst="roundRect">
              <a:avLst>
                <a:gd name="adj" fmla="val 8000"/>
              </a:avLst>
            </a:prstGeom>
            <a:solidFill>
              <a:schemeClr val="lt2"/>
            </a:solidFill>
            <a:ln>
              <a:noFill/>
            </a:ln>
          </p:spPr>
        </p:sp>
        <p:pic>
          <p:nvPicPr>
            <p:cNvPr id="17" name="Image 1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791700" y="1744884"/>
              <a:ext cx="1524000" cy="1272731"/>
            </a:xfrm>
            <a:prstGeom prst="rect">
              <a:avLst/>
            </a:prstGeom>
          </p:spPr>
        </p:pic>
      </p:grpSp>
      <p:grpSp>
        <p:nvGrpSpPr>
          <p:cNvPr id="23" name="q06-answer"/>
          <p:cNvGrpSpPr/>
          <p:nvPr/>
        </p:nvGrpSpPr>
        <p:grpSpPr>
          <a:xfrm>
            <a:off x="685800" y="2895600"/>
            <a:ext cx="10820400" cy="2628900"/>
            <a:chOff x="685800" y="2895600"/>
            <a:chExt cx="10820400" cy="2628900"/>
          </a:xfrm>
        </p:grpSpPr>
        <p:sp>
          <p:nvSpPr>
            <p:cNvPr id="19" name="Rectangle 19"/>
            <p:cNvSpPr/>
            <p:nvPr/>
          </p:nvSpPr>
          <p:spPr>
            <a:xfrm>
              <a:off x="685800" y="2895600"/>
              <a:ext cx="10820400" cy="2628900"/>
            </a:xfrm>
            <a:prstGeom prst="roundRect">
              <a:avLst>
                <a:gd name="adj" fmla="val 579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85800" y="2895600"/>
              <a:ext cx="57150" cy="2628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70204" y="2975610"/>
              <a:ext cx="18226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参考答案 · 练习册答案库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65632" y="3183255"/>
              <a:ext cx="9559862" cy="1934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解：易知抛物线 y=(x-2)² 的顶点 C 的坐标为 (2,0)。联立两函数的表达式，</a:t>
              </a:r>
              <a:br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得 {y=2x+4, y=(x-2)²}，解得 {x₁=0, y₁=4}, {x₂=6, y₂=16}。∴A(6,16),</a:t>
              </a:r>
              <a:br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B(0,4)。过点 A 作 AD⊥x 轴，垂足为 D，则 S△ABC = S梯形ABOD - S△AOC</a:t>
              </a:r>
            </a:p>
            <a:p>
              <a:pPr algn="l">
                <a:lnSpc>
                  <a:spcPts val="3000"/>
                </a:lnSpc>
              </a:pPr>
              <a:r>
                <a:rPr lang="en-US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- S△ACD = 1/2(OB+AD)·OD - 1/2OC·OB - 1/2CD·AD = 1/2×(4+16)×6 - </a:t>
              </a:r>
              <a:br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1/2×2×4 - 1/2×4×16 = 24。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0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q07-header"/>
          <p:cNvGrpSpPr/>
          <p:nvPr/>
        </p:nvGrpSpPr>
        <p:grpSpPr>
          <a:xfrm>
            <a:off x="685800" y="381000"/>
            <a:ext cx="10820400" cy="700088"/>
            <a:chOff x="685800" y="381000"/>
            <a:chExt cx="10820400" cy="700088"/>
          </a:xfrm>
        </p:grpSpPr>
        <p:sp>
          <p:nvSpPr>
            <p:cNvPr id="2" name="Rectangle 2"/>
            <p:cNvSpPr/>
            <p:nvPr/>
          </p:nvSpPr>
          <p:spPr>
            <a:xfrm>
              <a:off x="685800" y="381000"/>
              <a:ext cx="609600" cy="609600"/>
            </a:xfrm>
            <a:prstGeom prst="roundRect">
              <a:avLst>
                <a:gd name="adj" fmla="val 25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71931" y="489585"/>
              <a:ext cx="23733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478280" y="447675"/>
              <a:ext cx="19638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2026-09-15 · 解答题</a:t>
              </a:r>
            </a:p>
          </p:txBody>
        </p:sp>
        <p:sp>
          <p:nvSpPr>
            <p:cNvPr id="5" name="Ellipse 5"/>
            <p:cNvSpPr/>
            <p:nvPr/>
          </p:nvSpPr>
          <p:spPr>
            <a:xfrm>
              <a:off x="1514475" y="77152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704975" y="77152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895475" y="77152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2085975" y="77152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354580" y="714375"/>
              <a:ext cx="23404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难度 4 · 较难 · 含 3 小问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326380" y="714375"/>
              <a:ext cx="5993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1 人错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85800" y="1066800"/>
              <a:ext cx="10820400" cy="14288"/>
            </a:xfrm>
            <a:prstGeom prst="rect">
              <a:avLst/>
            </a:prstGeom>
            <a:solidFill>
              <a:srgbClr val="D2D2D7"/>
            </a:solidFill>
            <a:ln>
              <a:noFill/>
            </a:ln>
          </p:spPr>
        </p:sp>
      </p:grpSp>
      <p:grpSp>
        <p:nvGrpSpPr>
          <p:cNvPr id="17" name="q07-stem"/>
          <p:cNvGrpSpPr/>
          <p:nvPr/>
        </p:nvGrpSpPr>
        <p:grpSpPr>
          <a:xfrm>
            <a:off x="676656" y="1234440"/>
            <a:ext cx="8613602" cy="1558099"/>
            <a:chOff x="676656" y="1234440"/>
            <a:chExt cx="8613602" cy="1558099"/>
          </a:xfrm>
        </p:grpSpPr>
        <p:sp>
          <p:nvSpPr>
            <p:cNvPr id="13" name="TextBox 13"/>
            <p:cNvSpPr txBox="1"/>
            <p:nvPr/>
          </p:nvSpPr>
          <p:spPr>
            <a:xfrm>
              <a:off x="676656" y="1234440"/>
              <a:ext cx="861360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11.已知二次函数 y=ax²+bx+c(a≠0)的图像过点 A(1,0),点 B(-3,0)和点 C.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06018" y="1898332"/>
              <a:ext cx="411849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(1) 若点 C(0,-3),求二次函数的表达式;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06018" y="2184082"/>
              <a:ext cx="754673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(2) 当 -3≤x≤0 时,二次函数的最大值为 m,最小值为 n,若 m-n=8,求 a 的值;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06018" y="2469832"/>
              <a:ext cx="453696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(3) 若 z=-ax-3a 且 a&lt;0,求证: y-z+9/4a≤0.</a:t>
              </a:r>
            </a:p>
          </p:txBody>
        </p:sp>
      </p:grpSp>
      <p:grpSp>
        <p:nvGrpSpPr>
          <p:cNvPr id="22" name="q07-answer"/>
          <p:cNvGrpSpPr/>
          <p:nvPr/>
        </p:nvGrpSpPr>
        <p:grpSpPr>
          <a:xfrm>
            <a:off x="685800" y="3371850"/>
            <a:ext cx="10820400" cy="3276600"/>
            <a:chOff x="685800" y="3371850"/>
            <a:chExt cx="10820400" cy="3276600"/>
          </a:xfrm>
        </p:grpSpPr>
        <p:sp>
          <p:nvSpPr>
            <p:cNvPr id="18" name="Rectangle 18"/>
            <p:cNvSpPr/>
            <p:nvPr/>
          </p:nvSpPr>
          <p:spPr>
            <a:xfrm>
              <a:off x="685800" y="3371850"/>
              <a:ext cx="10820400" cy="3276600"/>
            </a:xfrm>
            <a:prstGeom prst="roundRect">
              <a:avLst>
                <a:gd name="adj" fmla="val 465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685800" y="3371850"/>
              <a:ext cx="57150" cy="32766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70204" y="3451860"/>
              <a:ext cx="27919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参考答案 · 练习册答案库（整题三段）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68680" y="3705225"/>
              <a:ext cx="8105299" cy="21602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(1)解：设二次函数的表达式为 y=a(x-1)(x+3)，把 C(0,-3)代入，得 -3=a×(0-1)×(0+3)，</a:t>
              </a:r>
              <a:br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解得 a=1，∴二次函数的表达式为 y=(x-1)(x+3)，即 y=x²+2x-3。</a:t>
              </a:r>
            </a:p>
            <a:p>
              <a:pPr algn="l">
                <a:lnSpc>
                  <a:spcPts val="2100"/>
                </a:lnSpc>
              </a:pPr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(2)解：抛物线表达式为 y=a(x-1)(x+3)，即 y=ax²+2ax-3a，抛物线的对称轴为直线</a:t>
              </a:r>
              <a:br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x=-2a/2a=-1。当 x=-1 时，y 有最值 -4a。当 a&gt;0 时，x=-3，m=0；x=-1，n=-4a，</a:t>
              </a:r>
              <a:br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∵m-n=8，∴0+4a=8，解得 a=2；当 a&lt;0 时，x=-1，m=-4a；x=-3，n=0，∵m-n=8，</a:t>
              </a:r>
              <a:br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∴-4a-0=8，解得 a=-2，综上所述，a 的值为 2 或 -2。</a:t>
              </a:r>
            </a:p>
            <a:p>
              <a:pPr algn="l">
                <a:lnSpc>
                  <a:spcPts val="2100"/>
                </a:lnSpc>
              </a:pPr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(3)证明：∵y=ax²+2ax-3a，x=-ax-3a，∴y-x+9/4a=ax²+2ax-3a-(-ax-3a)+9/4a=</a:t>
              </a:r>
              <a:br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ax²+3ax+9/4a=a(x+3/2)²。∵a&lt;0，(x+3/2)²≥0，∴a(x+3/2)²≤0，即 y-x+9/4a≤0。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q08-header"/>
          <p:cNvGrpSpPr/>
          <p:nvPr/>
        </p:nvGrpSpPr>
        <p:grpSpPr>
          <a:xfrm>
            <a:off x="685800" y="381000"/>
            <a:ext cx="10820400" cy="700088"/>
            <a:chOff x="685800" y="381000"/>
            <a:chExt cx="10820400" cy="700088"/>
          </a:xfrm>
        </p:grpSpPr>
        <p:sp>
          <p:nvSpPr>
            <p:cNvPr id="2" name="Rectangle 2"/>
            <p:cNvSpPr/>
            <p:nvPr/>
          </p:nvSpPr>
          <p:spPr>
            <a:xfrm>
              <a:off x="685800" y="381000"/>
              <a:ext cx="609600" cy="609600"/>
            </a:xfrm>
            <a:prstGeom prst="roundRect">
              <a:avLst>
                <a:gd name="adj" fmla="val 25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71931" y="489585"/>
              <a:ext cx="23733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478280" y="447675"/>
              <a:ext cx="19638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2026-09-15 · 解答题</a:t>
              </a:r>
            </a:p>
          </p:txBody>
        </p:sp>
        <p:sp>
          <p:nvSpPr>
            <p:cNvPr id="5" name="Ellipse 5"/>
            <p:cNvSpPr/>
            <p:nvPr/>
          </p:nvSpPr>
          <p:spPr>
            <a:xfrm>
              <a:off x="1514475" y="77152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704975" y="77152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895475" y="77152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2085975" y="77152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354580" y="714375"/>
              <a:ext cx="23404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难度 4 · 较难 · 含 3 小问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326380" y="714375"/>
              <a:ext cx="5993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1 人错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85800" y="1066800"/>
              <a:ext cx="10820400" cy="14288"/>
            </a:xfrm>
            <a:prstGeom prst="rect">
              <a:avLst/>
            </a:prstGeom>
            <a:solidFill>
              <a:srgbClr val="D2D2D7"/>
            </a:solidFill>
            <a:ln>
              <a:noFill/>
            </a:ln>
          </p:spPr>
        </p:sp>
      </p:grpSp>
      <p:grpSp>
        <p:nvGrpSpPr>
          <p:cNvPr id="17" name="q08-stem"/>
          <p:cNvGrpSpPr/>
          <p:nvPr/>
        </p:nvGrpSpPr>
        <p:grpSpPr>
          <a:xfrm>
            <a:off x="676656" y="1234440"/>
            <a:ext cx="8613602" cy="1558099"/>
            <a:chOff x="676656" y="1234440"/>
            <a:chExt cx="8613602" cy="1558099"/>
          </a:xfrm>
        </p:grpSpPr>
        <p:sp>
          <p:nvSpPr>
            <p:cNvPr id="13" name="TextBox 13"/>
            <p:cNvSpPr txBox="1"/>
            <p:nvPr/>
          </p:nvSpPr>
          <p:spPr>
            <a:xfrm>
              <a:off x="676656" y="1234440"/>
              <a:ext cx="861360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11.已知二次函数 y=ax²+bx+c(a≠0)的图像过点 A(1,0),点 B(-3,0)和点 C.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06018" y="1898332"/>
              <a:ext cx="411849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(1) 若点 C(0,-3),求二次函数的表达式;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06018" y="2184082"/>
              <a:ext cx="754673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(2) 当 -3≤x≤0 时,二次函数的最大值为 m,最小值为 n,若 m-n=8,求 a 的值;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06018" y="2469832"/>
              <a:ext cx="453696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(3) 若 z=-ax-3a 且 a&lt;0,求证: y-z+9/4a≤0.</a:t>
              </a:r>
            </a:p>
          </p:txBody>
        </p:sp>
      </p:grpSp>
      <p:grpSp>
        <p:nvGrpSpPr>
          <p:cNvPr id="22" name="q08-answer"/>
          <p:cNvGrpSpPr/>
          <p:nvPr/>
        </p:nvGrpSpPr>
        <p:grpSpPr>
          <a:xfrm>
            <a:off x="685800" y="3371850"/>
            <a:ext cx="10820400" cy="3276600"/>
            <a:chOff x="685800" y="3371850"/>
            <a:chExt cx="10820400" cy="3276600"/>
          </a:xfrm>
        </p:grpSpPr>
        <p:sp>
          <p:nvSpPr>
            <p:cNvPr id="18" name="Rectangle 18"/>
            <p:cNvSpPr/>
            <p:nvPr/>
          </p:nvSpPr>
          <p:spPr>
            <a:xfrm>
              <a:off x="685800" y="3371850"/>
              <a:ext cx="10820400" cy="3276600"/>
            </a:xfrm>
            <a:prstGeom prst="roundRect">
              <a:avLst>
                <a:gd name="adj" fmla="val 465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685800" y="3371850"/>
              <a:ext cx="57150" cy="32766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70204" y="3451860"/>
              <a:ext cx="27919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参考答案 · 练习册答案库（整题三段）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68680" y="3705225"/>
              <a:ext cx="8105299" cy="21602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(1)解：设二次函数的表达式为 y=a(x-1)(x+3)，把 C(0,-3)代入，得 -3=a×(0-1)×(0+3)，</a:t>
              </a:r>
              <a:br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解得 a=1，∴二次函数的表达式为 y=(x-1)(x+3)，即 y=x²+2x-3。</a:t>
              </a:r>
            </a:p>
            <a:p>
              <a:pPr algn="l">
                <a:lnSpc>
                  <a:spcPts val="2100"/>
                </a:lnSpc>
              </a:pPr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(2)解：抛物线表达式为 y=a(x-1)(x+3)，即 y=ax²+2ax-3a，抛物线的对称轴为直线</a:t>
              </a:r>
              <a:br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x=-2a/2a=-1。当 x=-1 时，y 有最值 -4a。当 a&gt;0 时，x=-3，m=0；x=-1，n=-4a，</a:t>
              </a:r>
              <a:br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∵m-n=8，∴0+4a=8，解得 a=2；当 a&lt;0 时，x=-1，m=-4a；x=-3，n=0，∵m-n=8，</a:t>
              </a:r>
              <a:br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∴-4a-0=8，解得 a=-2，综上所述，a 的值为 2 或 -2。</a:t>
              </a:r>
            </a:p>
            <a:p>
              <a:pPr algn="l">
                <a:lnSpc>
                  <a:spcPts val="2100"/>
                </a:lnSpc>
              </a:pPr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(3)证明：∵y=ax²+2ax-3a，x=-ax-3a，∴y-x+9/4a=ax²+2ax-3a-(-ax-3a)+9/4a=</a:t>
              </a:r>
              <a:br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ax²+3ax+9/4a=a(x+3/2)²。∵a&lt;0，(x+3/2)²≥0，∴a(x+3/2)²≤0，即 y-x+9/4a≤0。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q09-header"/>
          <p:cNvGrpSpPr/>
          <p:nvPr/>
        </p:nvGrpSpPr>
        <p:grpSpPr>
          <a:xfrm>
            <a:off x="685800" y="381000"/>
            <a:ext cx="10820400" cy="700088"/>
            <a:chOff x="685800" y="381000"/>
            <a:chExt cx="10820400" cy="700088"/>
          </a:xfrm>
        </p:grpSpPr>
        <p:sp>
          <p:nvSpPr>
            <p:cNvPr id="2" name="Rectangle 2"/>
            <p:cNvSpPr/>
            <p:nvPr/>
          </p:nvSpPr>
          <p:spPr>
            <a:xfrm>
              <a:off x="685800" y="381000"/>
              <a:ext cx="609600" cy="609600"/>
            </a:xfrm>
            <a:prstGeom prst="roundRect">
              <a:avLst>
                <a:gd name="adj" fmla="val 25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71931" y="489585"/>
              <a:ext cx="23733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478280" y="447675"/>
              <a:ext cx="19638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2026-09-15 · 解答题</a:t>
              </a:r>
            </a:p>
          </p:txBody>
        </p:sp>
        <p:sp>
          <p:nvSpPr>
            <p:cNvPr id="5" name="Ellipse 5"/>
            <p:cNvSpPr/>
            <p:nvPr/>
          </p:nvSpPr>
          <p:spPr>
            <a:xfrm>
              <a:off x="1514475" y="77152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704975" y="77152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895475" y="77152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2085975" y="77152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354580" y="714375"/>
              <a:ext cx="12470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难度 4 · 较难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326380" y="714375"/>
              <a:ext cx="5993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1 人错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85800" y="1066800"/>
              <a:ext cx="10820400" cy="14288"/>
            </a:xfrm>
            <a:prstGeom prst="rect">
              <a:avLst/>
            </a:prstGeom>
            <a:solidFill>
              <a:srgbClr val="D2D2D7"/>
            </a:solidFill>
            <a:ln>
              <a:noFill/>
            </a:ln>
          </p:spPr>
        </p:sp>
      </p:grpSp>
      <p:grpSp>
        <p:nvGrpSpPr>
          <p:cNvPr id="16" name="q09-stem"/>
          <p:cNvGrpSpPr/>
          <p:nvPr/>
        </p:nvGrpSpPr>
        <p:grpSpPr>
          <a:xfrm>
            <a:off x="674370" y="1662112"/>
            <a:ext cx="9647777" cy="1278255"/>
            <a:chOff x="674370" y="1662112"/>
            <a:chExt cx="9647777" cy="1278255"/>
          </a:xfrm>
        </p:grpSpPr>
        <p:sp>
          <p:nvSpPr>
            <p:cNvPr id="13" name="TextBox 13"/>
            <p:cNvSpPr txBox="1"/>
            <p:nvPr/>
          </p:nvSpPr>
          <p:spPr>
            <a:xfrm>
              <a:off x="674370" y="1662112"/>
              <a:ext cx="964777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已知直线x=c交抛物线y₁=-(x-a)²于点A(c,m),交抛物线y₂=-(x-b)²于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4370" y="2081212"/>
              <a:ext cx="935888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点B(c,n),下列结论:①若a&gt;b&gt;c,则m&lt;n;②若b&gt;a&gt;c,则m&lt;n;③若c&gt;b&gt;a,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74370" y="2500312"/>
              <a:ext cx="597474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则m&lt;n;④若a&gt;c&gt;b,则m&lt;n.其中正确的结论有</a:t>
              </a:r>
            </a:p>
          </p:txBody>
        </p:sp>
      </p:grpSp>
      <p:grpSp>
        <p:nvGrpSpPr>
          <p:cNvPr id="21" name="q09-answer"/>
          <p:cNvGrpSpPr/>
          <p:nvPr/>
        </p:nvGrpSpPr>
        <p:grpSpPr>
          <a:xfrm>
            <a:off x="685800" y="3314700"/>
            <a:ext cx="10820400" cy="1104900"/>
            <a:chOff x="685800" y="3314700"/>
            <a:chExt cx="10820400" cy="1104900"/>
          </a:xfrm>
        </p:grpSpPr>
        <p:sp>
          <p:nvSpPr>
            <p:cNvPr id="17" name="Rectangle 17"/>
            <p:cNvSpPr/>
            <p:nvPr/>
          </p:nvSpPr>
          <p:spPr>
            <a:xfrm>
              <a:off x="685800" y="3314700"/>
              <a:ext cx="10820400" cy="1104900"/>
            </a:xfrm>
            <a:prstGeom prst="roundRect">
              <a:avLst>
                <a:gd name="adj" fmla="val 1379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685800" y="3314700"/>
              <a:ext cx="57150" cy="1104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70204" y="3394710"/>
              <a:ext cx="18226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参考答案 · 练习册答案库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65632" y="3602355"/>
              <a:ext cx="8782431" cy="791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 解析：∵抛物线 y₁=-(x-a)² 经过点 A(c,m)，∴m=-(c-a)²，同理可得</a:t>
              </a:r>
              <a:br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n=-(c-b)²，∴m-n=-(c-a)²+(c-b)²=(a-b)(2c-a-b)。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q10-header"/>
          <p:cNvGrpSpPr/>
          <p:nvPr/>
        </p:nvGrpSpPr>
        <p:grpSpPr>
          <a:xfrm>
            <a:off x="685800" y="381000"/>
            <a:ext cx="10820400" cy="700088"/>
            <a:chOff x="685800" y="381000"/>
            <a:chExt cx="10820400" cy="700088"/>
          </a:xfrm>
        </p:grpSpPr>
        <p:sp>
          <p:nvSpPr>
            <p:cNvPr id="2" name="Rectangle 2"/>
            <p:cNvSpPr/>
            <p:nvPr/>
          </p:nvSpPr>
          <p:spPr>
            <a:xfrm>
              <a:off x="685800" y="381000"/>
              <a:ext cx="609600" cy="609600"/>
            </a:xfrm>
            <a:prstGeom prst="roundRect">
              <a:avLst>
                <a:gd name="adj" fmla="val 25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66978" y="489585"/>
              <a:ext cx="44724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478280" y="447675"/>
              <a:ext cx="19638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2026-09-15 · 解答题</a:t>
              </a:r>
            </a:p>
          </p:txBody>
        </p:sp>
        <p:sp>
          <p:nvSpPr>
            <p:cNvPr id="5" name="Ellipse 5"/>
            <p:cNvSpPr/>
            <p:nvPr/>
          </p:nvSpPr>
          <p:spPr>
            <a:xfrm>
              <a:off x="1514475" y="77152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704975" y="77152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895475" y="77152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2085975" y="77152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354580" y="714375"/>
              <a:ext cx="12470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难度 4 · 较难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326380" y="714375"/>
              <a:ext cx="5993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1 人错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85800" y="1066800"/>
              <a:ext cx="10820400" cy="14288"/>
            </a:xfrm>
            <a:prstGeom prst="rect">
              <a:avLst/>
            </a:prstGeom>
            <a:solidFill>
              <a:srgbClr val="D2D2D7"/>
            </a:solidFill>
            <a:ln>
              <a:noFill/>
            </a:ln>
          </p:spPr>
        </p:sp>
      </p:grpSp>
      <p:grpSp>
        <p:nvGrpSpPr>
          <p:cNvPr id="16" name="q10-stem"/>
          <p:cNvGrpSpPr/>
          <p:nvPr/>
        </p:nvGrpSpPr>
        <p:grpSpPr>
          <a:xfrm>
            <a:off x="674370" y="1662112"/>
            <a:ext cx="8539524" cy="1278255"/>
            <a:chOff x="674370" y="1662112"/>
            <a:chExt cx="8539524" cy="1278255"/>
          </a:xfrm>
        </p:grpSpPr>
        <p:sp>
          <p:nvSpPr>
            <p:cNvPr id="13" name="TextBox 13"/>
            <p:cNvSpPr txBox="1"/>
            <p:nvPr/>
          </p:nvSpPr>
          <p:spPr>
            <a:xfrm>
              <a:off x="674370" y="1662112"/>
              <a:ext cx="84393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如图，已知平行四边形ABCD顶点A的坐标为(2,6)，点B在y轴上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4370" y="2081212"/>
              <a:ext cx="853952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，且AD//BC//x轴，过B、C、D三点的抛物线的顶点坐标为(2,2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74370" y="2500312"/>
              <a:ext cx="471773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)，则抛物线的表达式是y=______.</a:t>
              </a:r>
            </a:p>
          </p:txBody>
        </p:sp>
      </p:grpSp>
      <p:grpSp>
        <p:nvGrpSpPr>
          <p:cNvPr id="19" name="q10-figure"/>
          <p:cNvGrpSpPr/>
          <p:nvPr/>
        </p:nvGrpSpPr>
        <p:grpSpPr>
          <a:xfrm>
            <a:off x="9601200" y="1428750"/>
            <a:ext cx="1905000" cy="2095500"/>
            <a:chOff x="9601200" y="1428750"/>
            <a:chExt cx="1905000" cy="2095500"/>
          </a:xfrm>
        </p:grpSpPr>
        <p:sp>
          <p:nvSpPr>
            <p:cNvPr id="17" name="Rectangle 17"/>
            <p:cNvSpPr/>
            <p:nvPr/>
          </p:nvSpPr>
          <p:spPr>
            <a:xfrm>
              <a:off x="9601200" y="1428750"/>
              <a:ext cx="1905000" cy="2095500"/>
            </a:xfrm>
            <a:prstGeom prst="roundRect">
              <a:avLst>
                <a:gd name="adj" fmla="val 8000"/>
              </a:avLst>
            </a:prstGeom>
            <a:solidFill>
              <a:schemeClr val="lt2"/>
            </a:solidFill>
            <a:ln>
              <a:noFill/>
            </a:ln>
          </p:spPr>
        </p:sp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791700" y="1699361"/>
              <a:ext cx="1524000" cy="1554278"/>
            </a:xfrm>
            <a:prstGeom prst="rect">
              <a:avLst/>
            </a:prstGeom>
          </p:spPr>
        </p:pic>
      </p:grpSp>
      <p:grpSp>
        <p:nvGrpSpPr>
          <p:cNvPr id="24" name="q10-answer"/>
          <p:cNvGrpSpPr/>
          <p:nvPr/>
        </p:nvGrpSpPr>
        <p:grpSpPr>
          <a:xfrm>
            <a:off x="685800" y="3314700"/>
            <a:ext cx="10820400" cy="2247900"/>
            <a:chOff x="685800" y="3314700"/>
            <a:chExt cx="10820400" cy="2247900"/>
          </a:xfrm>
        </p:grpSpPr>
        <p:sp>
          <p:nvSpPr>
            <p:cNvPr id="20" name="Rectangle 20"/>
            <p:cNvSpPr/>
            <p:nvPr/>
          </p:nvSpPr>
          <p:spPr>
            <a:xfrm>
              <a:off x="685800" y="3314700"/>
              <a:ext cx="10820400" cy="2247900"/>
            </a:xfrm>
            <a:prstGeom prst="roundRect">
              <a:avLst>
                <a:gd name="adj" fmla="val 678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685800" y="3314700"/>
              <a:ext cx="57150" cy="22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70204" y="3394710"/>
              <a:ext cx="18226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参考答案 · 练习册答案库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65632" y="3602355"/>
              <a:ext cx="9863233" cy="1553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1/4(x-2)²+2 解析：∵过B,C,D三点的抛物线的顶点坐标为(2,2),AD//BC//x</a:t>
              </a:r>
              <a:br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轴，∴BC=4。∵四边形ABCD是平行四边形，∴AD=BC=4。∵点A的坐标为(2,6)，</a:t>
              </a:r>
              <a:br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∴D(6,6)。设抛物线为y=a(x-2)²+2，代入点D的坐标，得6=16a+2，解得a=1/4，</a:t>
              </a:r>
              <a:br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∴抛物线的表达式为y=1/4(x-2)²+2。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0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-field"/>
          <p:cNvSpPr/>
          <p:nvPr/>
        </p:nvSpPr>
        <p:spPr>
          <a:xfrm>
            <a:off x="0" y="0"/>
            <a:ext cx="12192000" cy="304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3" name="chapter-accent"/>
          <p:cNvSpPr/>
          <p:nvPr/>
        </p:nvSpPr>
        <p:spPr>
          <a:xfrm>
            <a:off x="685800" y="2895600"/>
            <a:ext cx="76200" cy="1143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8" name="chapter-head"/>
          <p:cNvGrpSpPr/>
          <p:nvPr/>
        </p:nvGrpSpPr>
        <p:grpSpPr>
          <a:xfrm>
            <a:off x="677418" y="1041082"/>
            <a:ext cx="7749083" cy="3281363"/>
            <a:chOff x="677418" y="1041082"/>
            <a:chExt cx="7749083" cy="3281363"/>
          </a:xfrm>
        </p:grpSpPr>
        <p:sp>
          <p:nvSpPr>
            <p:cNvPr id="4" name="TextBox 4"/>
            <p:cNvSpPr txBox="1"/>
            <p:nvPr/>
          </p:nvSpPr>
          <p:spPr>
            <a:xfrm>
              <a:off x="677418" y="1041082"/>
              <a:ext cx="185267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SECTION 03 / 05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33450" y="2529840"/>
              <a:ext cx="3769766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2026-09-13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41832" y="3507105"/>
              <a:ext cx="748466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12 题 · 基础 1 · 中等 6 · 较难 2 · 难度未判定 3 · 3 名学生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44880" y="402907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错的学生：程思豪、丁嘉炜、张诗蕊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q11-header"/>
          <p:cNvGrpSpPr/>
          <p:nvPr/>
        </p:nvGrpSpPr>
        <p:grpSpPr>
          <a:xfrm>
            <a:off x="685800" y="381000"/>
            <a:ext cx="10820400" cy="700088"/>
            <a:chOff x="685800" y="381000"/>
            <a:chExt cx="10820400" cy="700088"/>
          </a:xfrm>
        </p:grpSpPr>
        <p:sp>
          <p:nvSpPr>
            <p:cNvPr id="2" name="Rectangle 2"/>
            <p:cNvSpPr/>
            <p:nvPr/>
          </p:nvSpPr>
          <p:spPr>
            <a:xfrm>
              <a:off x="685800" y="381000"/>
              <a:ext cx="609600" cy="609600"/>
            </a:xfrm>
            <a:prstGeom prst="roundRect">
              <a:avLst>
                <a:gd name="adj" fmla="val 25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66978" y="489585"/>
              <a:ext cx="44724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478280" y="447675"/>
              <a:ext cx="19638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2026-09-13 · 选择题</a:t>
              </a:r>
            </a:p>
          </p:txBody>
        </p:sp>
        <p:sp>
          <p:nvSpPr>
            <p:cNvPr id="5" name="Ellipse 5"/>
            <p:cNvSpPr/>
            <p:nvPr/>
          </p:nvSpPr>
          <p:spPr>
            <a:xfrm>
              <a:off x="1514475" y="771525"/>
              <a:ext cx="95250" cy="952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704975" y="771525"/>
              <a:ext cx="95250" cy="952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895475" y="771525"/>
              <a:ext cx="95250" cy="95250"/>
            </a:xfrm>
            <a:prstGeom prst="ellipse">
              <a:avLst/>
            </a:prstGeom>
            <a:solidFill>
              <a:srgbClr val="D2D2D7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2085975" y="771525"/>
              <a:ext cx="95250" cy="95250"/>
            </a:xfrm>
            <a:prstGeom prst="ellipse">
              <a:avLst/>
            </a:prstGeom>
            <a:solidFill>
              <a:srgbClr val="D2D2D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354580" y="714375"/>
              <a:ext cx="12470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难度 2 · 基础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326380" y="714375"/>
              <a:ext cx="5993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1 人错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85800" y="1066800"/>
              <a:ext cx="10820400" cy="14288"/>
            </a:xfrm>
            <a:prstGeom prst="rect">
              <a:avLst/>
            </a:prstGeom>
            <a:solidFill>
              <a:srgbClr val="D2D2D7"/>
            </a:solidFill>
            <a:ln>
              <a:noFill/>
            </a:ln>
          </p:spPr>
        </p:sp>
      </p:grpSp>
      <p:grpSp>
        <p:nvGrpSpPr>
          <p:cNvPr id="15" name="q11-stem"/>
          <p:cNvGrpSpPr/>
          <p:nvPr/>
        </p:nvGrpSpPr>
        <p:grpSpPr>
          <a:xfrm>
            <a:off x="674370" y="1662112"/>
            <a:ext cx="9366885" cy="1278255"/>
            <a:chOff x="674370" y="1662112"/>
            <a:chExt cx="9366885" cy="1278255"/>
          </a:xfrm>
        </p:grpSpPr>
        <p:sp>
          <p:nvSpPr>
            <p:cNvPr id="13" name="TextBox 13"/>
            <p:cNvSpPr txBox="1"/>
            <p:nvPr/>
          </p:nvSpPr>
          <p:spPr>
            <a:xfrm>
              <a:off x="674370" y="1662112"/>
              <a:ext cx="9366885" cy="8591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300"/>
                </a:lnSpc>
              </a:pPr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1.抛物线的形状、开口方向与 y=1/2x²-4x+3 相同,顶点坐标为(-2,1),则</a:t>
              </a:r>
              <a:br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表达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4370" y="2500312"/>
              <a:ext cx="62865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式为</a:t>
              </a:r>
            </a:p>
          </p:txBody>
        </p:sp>
      </p:grpSp>
      <p:grpSp>
        <p:nvGrpSpPr>
          <p:cNvPr id="20" name="q11-answer"/>
          <p:cNvGrpSpPr/>
          <p:nvPr/>
        </p:nvGrpSpPr>
        <p:grpSpPr>
          <a:xfrm>
            <a:off x="685800" y="2895600"/>
            <a:ext cx="10820400" cy="723900"/>
            <a:chOff x="685800" y="2895600"/>
            <a:chExt cx="10820400" cy="723900"/>
          </a:xfrm>
        </p:grpSpPr>
        <p:sp>
          <p:nvSpPr>
            <p:cNvPr id="16" name="Rectangle 16"/>
            <p:cNvSpPr/>
            <p:nvPr/>
          </p:nvSpPr>
          <p:spPr>
            <a:xfrm>
              <a:off x="685800" y="2895600"/>
              <a:ext cx="10820400" cy="723900"/>
            </a:xfrm>
            <a:prstGeom prst="roundRect">
              <a:avLst>
                <a:gd name="adj" fmla="val 2105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685800" y="2895600"/>
              <a:ext cx="57150" cy="723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70204" y="2975610"/>
              <a:ext cx="18226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参考答案 · 练习册答案库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65632" y="3164205"/>
              <a:ext cx="19383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q12-header"/>
          <p:cNvGrpSpPr/>
          <p:nvPr/>
        </p:nvGrpSpPr>
        <p:grpSpPr>
          <a:xfrm>
            <a:off x="685800" y="381000"/>
            <a:ext cx="10820400" cy="700088"/>
            <a:chOff x="685800" y="381000"/>
            <a:chExt cx="10820400" cy="700088"/>
          </a:xfrm>
        </p:grpSpPr>
        <p:sp>
          <p:nvSpPr>
            <p:cNvPr id="2" name="Rectangle 2"/>
            <p:cNvSpPr/>
            <p:nvPr/>
          </p:nvSpPr>
          <p:spPr>
            <a:xfrm>
              <a:off x="685800" y="381000"/>
              <a:ext cx="609600" cy="609600"/>
            </a:xfrm>
            <a:prstGeom prst="roundRect">
              <a:avLst>
                <a:gd name="adj" fmla="val 25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66978" y="489585"/>
              <a:ext cx="44724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478280" y="447675"/>
              <a:ext cx="19638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2026-09-13 · 选择题</a:t>
              </a:r>
            </a:p>
          </p:txBody>
        </p:sp>
        <p:sp>
          <p:nvSpPr>
            <p:cNvPr id="5" name="Ellipse 5"/>
            <p:cNvSpPr/>
            <p:nvPr/>
          </p:nvSpPr>
          <p:spPr>
            <a:xfrm>
              <a:off x="1514475" y="771525"/>
              <a:ext cx="95250" cy="952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704975" y="771525"/>
              <a:ext cx="95250" cy="952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895475" y="771525"/>
              <a:ext cx="95250" cy="952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2085975" y="771525"/>
              <a:ext cx="95250" cy="95250"/>
            </a:xfrm>
            <a:prstGeom prst="ellipse">
              <a:avLst/>
            </a:prstGeom>
            <a:solidFill>
              <a:srgbClr val="D2D2D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354580" y="714375"/>
              <a:ext cx="12470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难度 3 · 中等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326380" y="714375"/>
              <a:ext cx="5993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2 人错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85800" y="1066800"/>
              <a:ext cx="10820400" cy="14288"/>
            </a:xfrm>
            <a:prstGeom prst="rect">
              <a:avLst/>
            </a:prstGeom>
            <a:solidFill>
              <a:srgbClr val="D2D2D7"/>
            </a:solidFill>
            <a:ln>
              <a:noFill/>
            </a:ln>
          </p:spPr>
        </p:sp>
      </p:grpSp>
      <p:grpSp>
        <p:nvGrpSpPr>
          <p:cNvPr id="14" name="q12-stem"/>
          <p:cNvGrpSpPr/>
          <p:nvPr/>
        </p:nvGrpSpPr>
        <p:grpSpPr>
          <a:xfrm>
            <a:off x="674370" y="1662112"/>
            <a:ext cx="5671852" cy="440055"/>
            <a:chOff x="674370" y="1662112"/>
            <a:chExt cx="5671852" cy="440055"/>
          </a:xfrm>
        </p:grpSpPr>
        <p:sp>
          <p:nvSpPr>
            <p:cNvPr id="13" name="TextBox 13"/>
            <p:cNvSpPr txBox="1"/>
            <p:nvPr/>
          </p:nvSpPr>
          <p:spPr>
            <a:xfrm>
              <a:off x="674370" y="1662112"/>
              <a:ext cx="567185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2.二次函数的图像如图所示,则其表达式是</a:t>
              </a:r>
            </a:p>
          </p:txBody>
        </p:sp>
      </p:grpSp>
      <p:grpSp>
        <p:nvGrpSpPr>
          <p:cNvPr id="17" name="q12-figure"/>
          <p:cNvGrpSpPr/>
          <p:nvPr/>
        </p:nvGrpSpPr>
        <p:grpSpPr>
          <a:xfrm>
            <a:off x="9601200" y="1428750"/>
            <a:ext cx="1905000" cy="1714500"/>
            <a:chOff x="9601200" y="1428750"/>
            <a:chExt cx="1905000" cy="1714500"/>
          </a:xfrm>
        </p:grpSpPr>
        <p:sp>
          <p:nvSpPr>
            <p:cNvPr id="15" name="Rectangle 15"/>
            <p:cNvSpPr/>
            <p:nvPr/>
          </p:nvSpPr>
          <p:spPr>
            <a:xfrm>
              <a:off x="9601200" y="1428750"/>
              <a:ext cx="1905000" cy="1714500"/>
            </a:xfrm>
            <a:prstGeom prst="roundRect">
              <a:avLst>
                <a:gd name="adj" fmla="val 8889"/>
              </a:avLst>
            </a:prstGeom>
            <a:solidFill>
              <a:schemeClr val="lt2"/>
            </a:solidFill>
            <a:ln>
              <a:noFill/>
            </a:ln>
          </p:spPr>
        </p:sp>
        <p:pic>
          <p:nvPicPr>
            <p:cNvPr id="16" name="Image 1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930059" y="1619250"/>
              <a:ext cx="1247282" cy="1333500"/>
            </a:xfrm>
            <a:prstGeom prst="rect">
              <a:avLst/>
            </a:prstGeom>
          </p:spPr>
        </p:pic>
      </p:grpSp>
      <p:grpSp>
        <p:nvGrpSpPr>
          <p:cNvPr id="22" name="q12-answer"/>
          <p:cNvGrpSpPr/>
          <p:nvPr/>
        </p:nvGrpSpPr>
        <p:grpSpPr>
          <a:xfrm>
            <a:off x="685800" y="2476500"/>
            <a:ext cx="10820400" cy="723900"/>
            <a:chOff x="685800" y="2476500"/>
            <a:chExt cx="10820400" cy="723900"/>
          </a:xfrm>
        </p:grpSpPr>
        <p:sp>
          <p:nvSpPr>
            <p:cNvPr id="18" name="Rectangle 18"/>
            <p:cNvSpPr/>
            <p:nvPr/>
          </p:nvSpPr>
          <p:spPr>
            <a:xfrm>
              <a:off x="685800" y="2476500"/>
              <a:ext cx="10820400" cy="723900"/>
            </a:xfrm>
            <a:prstGeom prst="roundRect">
              <a:avLst>
                <a:gd name="adj" fmla="val 2105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685800" y="2476500"/>
              <a:ext cx="57150" cy="723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70204" y="2556510"/>
              <a:ext cx="18226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参考答案 · 练习册答案库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65632" y="2745105"/>
              <a:ext cx="19383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0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q13-header"/>
          <p:cNvGrpSpPr/>
          <p:nvPr/>
        </p:nvGrpSpPr>
        <p:grpSpPr>
          <a:xfrm>
            <a:off x="685800" y="381000"/>
            <a:ext cx="10820400" cy="700088"/>
            <a:chOff x="685800" y="381000"/>
            <a:chExt cx="10820400" cy="700088"/>
          </a:xfrm>
        </p:grpSpPr>
        <p:sp>
          <p:nvSpPr>
            <p:cNvPr id="2" name="Rectangle 2"/>
            <p:cNvSpPr/>
            <p:nvPr/>
          </p:nvSpPr>
          <p:spPr>
            <a:xfrm>
              <a:off x="685800" y="381000"/>
              <a:ext cx="609600" cy="609600"/>
            </a:xfrm>
            <a:prstGeom prst="roundRect">
              <a:avLst>
                <a:gd name="adj" fmla="val 25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66978" y="489585"/>
              <a:ext cx="44724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478280" y="447675"/>
              <a:ext cx="30340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2026-09-13 · 解答题 · 含 4 小问</a:t>
              </a:r>
            </a:p>
          </p:txBody>
        </p:sp>
        <p:sp>
          <p:nvSpPr>
            <p:cNvPr id="5" name="Ellipse 5"/>
            <p:cNvSpPr/>
            <p:nvPr/>
          </p:nvSpPr>
          <p:spPr>
            <a:xfrm>
              <a:off x="1514475" y="771525"/>
              <a:ext cx="95250" cy="952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704975" y="771525"/>
              <a:ext cx="95250" cy="952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895475" y="771525"/>
              <a:ext cx="95250" cy="952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2085975" y="771525"/>
              <a:ext cx="95250" cy="95250"/>
            </a:xfrm>
            <a:prstGeom prst="ellipse">
              <a:avLst/>
            </a:prstGeom>
            <a:solidFill>
              <a:srgbClr val="D2D2D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354580" y="714375"/>
              <a:ext cx="12470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难度 3 · 中等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326380" y="714375"/>
              <a:ext cx="5993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1 人错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85800" y="1066800"/>
              <a:ext cx="10820400" cy="14288"/>
            </a:xfrm>
            <a:prstGeom prst="rect">
              <a:avLst/>
            </a:prstGeom>
            <a:solidFill>
              <a:srgbClr val="D2D2D7"/>
            </a:solidFill>
            <a:ln>
              <a:noFill/>
            </a:ln>
          </p:spPr>
        </p:sp>
      </p:grpSp>
      <p:grpSp>
        <p:nvGrpSpPr>
          <p:cNvPr id="20" name="q13-stem"/>
          <p:cNvGrpSpPr/>
          <p:nvPr/>
        </p:nvGrpSpPr>
        <p:grpSpPr>
          <a:xfrm>
            <a:off x="676656" y="1234440"/>
            <a:ext cx="8331403" cy="2415349"/>
            <a:chOff x="676656" y="1234440"/>
            <a:chExt cx="8331403" cy="2415349"/>
          </a:xfrm>
        </p:grpSpPr>
        <p:sp>
          <p:nvSpPr>
            <p:cNvPr id="13" name="TextBox 13"/>
            <p:cNvSpPr txBox="1"/>
            <p:nvPr/>
          </p:nvSpPr>
          <p:spPr>
            <a:xfrm>
              <a:off x="676656" y="1234440"/>
              <a:ext cx="7751254" cy="6758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某班数学兴趣小组对函数y=|x²-2x|的图像和性质进行了探究,探究过程如下,</a:t>
              </a:r>
              <a:br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请补充完整.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06018" y="1898332"/>
              <a:ext cx="810204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(1) 自变量x的取值范围是全体实数,x与y的几组对应值列表如下:其中,m=______.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06018" y="2184082"/>
              <a:ext cx="780217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(2) 根据上表数据,在如图所示的平面直角坐标系中描点,并画出了函数图像的一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06018" y="2469832"/>
              <a:ext cx="359294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部分,请画出该函数图像的另一部分.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06018" y="2755582"/>
              <a:ext cx="72246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(3) 进一步探究函数图像解决问题:①方程|x²-2x|=1/2有______个实数根;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06018" y="3041332"/>
              <a:ext cx="764668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(4) (3)进一步探究函数图像解决问题:②在(2)中的平面直角坐标系中画出直线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06018" y="3327082"/>
              <a:ext cx="791323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y=-x+1,根据图像写出方程|x²-2x|=-x+1的一个正数根约为______.(精确到0.1)</a:t>
              </a:r>
            </a:p>
          </p:txBody>
        </p:sp>
      </p:grpSp>
      <p:grpSp>
        <p:nvGrpSpPr>
          <p:cNvPr id="25" name="q13-answer"/>
          <p:cNvGrpSpPr/>
          <p:nvPr/>
        </p:nvGrpSpPr>
        <p:grpSpPr>
          <a:xfrm>
            <a:off x="685800" y="4800600"/>
            <a:ext cx="10820400" cy="1828800"/>
            <a:chOff x="685800" y="4800600"/>
            <a:chExt cx="10820400" cy="1828800"/>
          </a:xfrm>
        </p:grpSpPr>
        <p:sp>
          <p:nvSpPr>
            <p:cNvPr id="21" name="Rectangle 21"/>
            <p:cNvSpPr/>
            <p:nvPr/>
          </p:nvSpPr>
          <p:spPr>
            <a:xfrm>
              <a:off x="685800" y="4800600"/>
              <a:ext cx="10820400" cy="1828800"/>
            </a:xfrm>
            <a:prstGeom prst="roundRect">
              <a:avLst>
                <a:gd name="adj" fmla="val 8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85800" y="4800600"/>
              <a:ext cx="57150" cy="18288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70204" y="4880610"/>
              <a:ext cx="18226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参考答案 · 练习册答案库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68680" y="5133975"/>
              <a:ext cx="7017544" cy="12839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(1)1.25</a:t>
              </a:r>
            </a:p>
            <a:p>
              <a:pPr algn="l">
                <a:lnSpc>
                  <a:spcPts val="1950"/>
                </a:lnSpc>
              </a:pPr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(2)如图1所示.</a:t>
              </a:r>
            </a:p>
            <a:p>
              <a:pPr algn="l">
                <a:lnSpc>
                  <a:spcPts val="1950"/>
                </a:lnSpc>
              </a:pPr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(3)①由函数图像知函数图像与y=1/2有4个交点,∴对应的方程|x²-2x|=1/2有4个</a:t>
              </a:r>
              <a:br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实数根,故答案为4;</a:t>
              </a:r>
              <a:br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②如图2,由图像和表格可知方程|x²-2x|=-x+1的一个正数根约为0.4,故答案为0.4.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q14-header"/>
          <p:cNvGrpSpPr/>
          <p:nvPr/>
        </p:nvGrpSpPr>
        <p:grpSpPr>
          <a:xfrm>
            <a:off x="685800" y="381000"/>
            <a:ext cx="10820400" cy="700088"/>
            <a:chOff x="685800" y="381000"/>
            <a:chExt cx="10820400" cy="700088"/>
          </a:xfrm>
        </p:grpSpPr>
        <p:sp>
          <p:nvSpPr>
            <p:cNvPr id="2" name="Rectangle 2"/>
            <p:cNvSpPr/>
            <p:nvPr/>
          </p:nvSpPr>
          <p:spPr>
            <a:xfrm>
              <a:off x="685800" y="381000"/>
              <a:ext cx="609600" cy="609600"/>
            </a:xfrm>
            <a:prstGeom prst="roundRect">
              <a:avLst>
                <a:gd name="adj" fmla="val 25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66978" y="489585"/>
              <a:ext cx="44724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478280" y="447675"/>
              <a:ext cx="19638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2026-09-13 · 填空题</a:t>
              </a:r>
            </a:p>
          </p:txBody>
        </p:sp>
        <p:sp>
          <p:nvSpPr>
            <p:cNvPr id="5" name="Ellipse 5"/>
            <p:cNvSpPr/>
            <p:nvPr/>
          </p:nvSpPr>
          <p:spPr>
            <a:xfrm>
              <a:off x="1514475" y="771525"/>
              <a:ext cx="95250" cy="952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704975" y="771525"/>
              <a:ext cx="95250" cy="952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895475" y="771525"/>
              <a:ext cx="95250" cy="952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2085975" y="771525"/>
              <a:ext cx="95250" cy="95250"/>
            </a:xfrm>
            <a:prstGeom prst="ellipse">
              <a:avLst/>
            </a:prstGeom>
            <a:solidFill>
              <a:srgbClr val="D2D2D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354580" y="714375"/>
              <a:ext cx="12470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难度 3 · 中等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326380" y="714375"/>
              <a:ext cx="5993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1 人错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85800" y="1066800"/>
              <a:ext cx="10820400" cy="14288"/>
            </a:xfrm>
            <a:prstGeom prst="rect">
              <a:avLst/>
            </a:prstGeom>
            <a:solidFill>
              <a:srgbClr val="D2D2D7"/>
            </a:solidFill>
            <a:ln>
              <a:noFill/>
            </a:ln>
          </p:spPr>
        </p:sp>
      </p:grpSp>
      <p:grpSp>
        <p:nvGrpSpPr>
          <p:cNvPr id="14" name="q14-stem"/>
          <p:cNvGrpSpPr/>
          <p:nvPr/>
        </p:nvGrpSpPr>
        <p:grpSpPr>
          <a:xfrm>
            <a:off x="674370" y="1662112"/>
            <a:ext cx="8609933" cy="440055"/>
            <a:chOff x="674370" y="1662112"/>
            <a:chExt cx="8609933" cy="440055"/>
          </a:xfrm>
        </p:grpSpPr>
        <p:sp>
          <p:nvSpPr>
            <p:cNvPr id="13" name="TextBox 13"/>
            <p:cNvSpPr txBox="1"/>
            <p:nvPr/>
          </p:nvSpPr>
          <p:spPr>
            <a:xfrm>
              <a:off x="674370" y="1662112"/>
              <a:ext cx="8609933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已知线段b是线段a、c的比例中项，如果a=2,c=3，那么b=____.</a:t>
              </a:r>
            </a:p>
          </p:txBody>
        </p:sp>
      </p:grpSp>
      <p:grpSp>
        <p:nvGrpSpPr>
          <p:cNvPr id="19" name="q14-answer"/>
          <p:cNvGrpSpPr/>
          <p:nvPr/>
        </p:nvGrpSpPr>
        <p:grpSpPr>
          <a:xfrm>
            <a:off x="685800" y="2895600"/>
            <a:ext cx="10820400" cy="723900"/>
            <a:chOff x="685800" y="2895600"/>
            <a:chExt cx="10820400" cy="723900"/>
          </a:xfrm>
        </p:grpSpPr>
        <p:sp>
          <p:nvSpPr>
            <p:cNvPr id="15" name="Rectangle 15"/>
            <p:cNvSpPr/>
            <p:nvPr/>
          </p:nvSpPr>
          <p:spPr>
            <a:xfrm>
              <a:off x="685800" y="2895600"/>
              <a:ext cx="10820400" cy="723900"/>
            </a:xfrm>
            <a:prstGeom prst="roundRect">
              <a:avLst>
                <a:gd name="adj" fmla="val 2105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685800" y="2895600"/>
              <a:ext cx="57150" cy="723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70204" y="2975610"/>
              <a:ext cx="18226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参考答案 · 练习册答案库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65632" y="3164205"/>
              <a:ext cx="34785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√6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q15-header"/>
          <p:cNvGrpSpPr/>
          <p:nvPr/>
        </p:nvGrpSpPr>
        <p:grpSpPr>
          <a:xfrm>
            <a:off x="685800" y="381000"/>
            <a:ext cx="10820400" cy="700088"/>
            <a:chOff x="685800" y="381000"/>
            <a:chExt cx="10820400" cy="700088"/>
          </a:xfrm>
        </p:grpSpPr>
        <p:sp>
          <p:nvSpPr>
            <p:cNvPr id="2" name="Rectangle 2"/>
            <p:cNvSpPr/>
            <p:nvPr/>
          </p:nvSpPr>
          <p:spPr>
            <a:xfrm>
              <a:off x="685800" y="381000"/>
              <a:ext cx="609600" cy="609600"/>
            </a:xfrm>
            <a:prstGeom prst="roundRect">
              <a:avLst>
                <a:gd name="adj" fmla="val 25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66978" y="489585"/>
              <a:ext cx="44724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478280" y="447675"/>
              <a:ext cx="19638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2026-09-13 · 解答题</a:t>
              </a:r>
            </a:p>
          </p:txBody>
        </p:sp>
        <p:sp>
          <p:nvSpPr>
            <p:cNvPr id="5" name="Ellipse 5"/>
            <p:cNvSpPr/>
            <p:nvPr/>
          </p:nvSpPr>
          <p:spPr>
            <a:xfrm>
              <a:off x="1514475" y="771525"/>
              <a:ext cx="95250" cy="952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704975" y="771525"/>
              <a:ext cx="95250" cy="952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895475" y="771525"/>
              <a:ext cx="95250" cy="952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2085975" y="771525"/>
              <a:ext cx="95250" cy="95250"/>
            </a:xfrm>
            <a:prstGeom prst="ellipse">
              <a:avLst/>
            </a:prstGeom>
            <a:solidFill>
              <a:srgbClr val="D2D2D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354580" y="714375"/>
              <a:ext cx="12470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难度 3 · 中等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326380" y="714375"/>
              <a:ext cx="5993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1 人错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85800" y="1066800"/>
              <a:ext cx="10820400" cy="14288"/>
            </a:xfrm>
            <a:prstGeom prst="rect">
              <a:avLst/>
            </a:prstGeom>
            <a:solidFill>
              <a:srgbClr val="D2D2D7"/>
            </a:solidFill>
            <a:ln>
              <a:noFill/>
            </a:ln>
          </p:spPr>
        </p:sp>
      </p:grpSp>
      <p:grpSp>
        <p:nvGrpSpPr>
          <p:cNvPr id="15" name="q15-stem"/>
          <p:cNvGrpSpPr/>
          <p:nvPr/>
        </p:nvGrpSpPr>
        <p:grpSpPr>
          <a:xfrm>
            <a:off x="674370" y="1662112"/>
            <a:ext cx="10121551" cy="859155"/>
            <a:chOff x="674370" y="1662112"/>
            <a:chExt cx="10121551" cy="859155"/>
          </a:xfrm>
        </p:grpSpPr>
        <p:sp>
          <p:nvSpPr>
            <p:cNvPr id="13" name="TextBox 13"/>
            <p:cNvSpPr txBox="1"/>
            <p:nvPr/>
          </p:nvSpPr>
          <p:spPr>
            <a:xfrm>
              <a:off x="674370" y="1662112"/>
              <a:ext cx="1012155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已知线段AB的长是3cm，M是线段AB的黄金分割点，那么较长线段AM的长是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4370" y="2081212"/>
              <a:ext cx="514892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____cm，较短线段BM的长是____cm.</a:t>
              </a:r>
            </a:p>
          </p:txBody>
        </p:sp>
      </p:grpSp>
      <p:grpSp>
        <p:nvGrpSpPr>
          <p:cNvPr id="20" name="q15-answer"/>
          <p:cNvGrpSpPr/>
          <p:nvPr/>
        </p:nvGrpSpPr>
        <p:grpSpPr>
          <a:xfrm>
            <a:off x="685800" y="2895600"/>
            <a:ext cx="10820400" cy="723900"/>
            <a:chOff x="685800" y="2895600"/>
            <a:chExt cx="10820400" cy="723900"/>
          </a:xfrm>
        </p:grpSpPr>
        <p:sp>
          <p:nvSpPr>
            <p:cNvPr id="16" name="Rectangle 16"/>
            <p:cNvSpPr/>
            <p:nvPr/>
          </p:nvSpPr>
          <p:spPr>
            <a:xfrm>
              <a:off x="685800" y="2895600"/>
              <a:ext cx="10820400" cy="723900"/>
            </a:xfrm>
            <a:prstGeom prst="roundRect">
              <a:avLst>
                <a:gd name="adj" fmla="val 2105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685800" y="2895600"/>
              <a:ext cx="57150" cy="723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70204" y="2975610"/>
              <a:ext cx="18226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参考答案 · 练习册答案库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65632" y="3164205"/>
              <a:ext cx="324272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(3√5-3)/2，(9-3√5)/2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q16-header"/>
          <p:cNvGrpSpPr/>
          <p:nvPr/>
        </p:nvGrpSpPr>
        <p:grpSpPr>
          <a:xfrm>
            <a:off x="685800" y="381000"/>
            <a:ext cx="10820400" cy="700088"/>
            <a:chOff x="685800" y="381000"/>
            <a:chExt cx="10820400" cy="700088"/>
          </a:xfrm>
        </p:grpSpPr>
        <p:sp>
          <p:nvSpPr>
            <p:cNvPr id="2" name="Rectangle 2"/>
            <p:cNvSpPr/>
            <p:nvPr/>
          </p:nvSpPr>
          <p:spPr>
            <a:xfrm>
              <a:off x="685800" y="381000"/>
              <a:ext cx="609600" cy="609600"/>
            </a:xfrm>
            <a:prstGeom prst="roundRect">
              <a:avLst>
                <a:gd name="adj" fmla="val 25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66978" y="489585"/>
              <a:ext cx="44724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478280" y="447675"/>
              <a:ext cx="30340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2026-09-13 · 解答题 · 含 3 小问</a:t>
              </a:r>
            </a:p>
          </p:txBody>
        </p:sp>
        <p:sp>
          <p:nvSpPr>
            <p:cNvPr id="5" name="Ellipse 5"/>
            <p:cNvSpPr/>
            <p:nvPr/>
          </p:nvSpPr>
          <p:spPr>
            <a:xfrm>
              <a:off x="1514475" y="771525"/>
              <a:ext cx="95250" cy="952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704975" y="771525"/>
              <a:ext cx="95250" cy="952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895475" y="771525"/>
              <a:ext cx="95250" cy="952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2085975" y="771525"/>
              <a:ext cx="95250" cy="95250"/>
            </a:xfrm>
            <a:prstGeom prst="ellipse">
              <a:avLst/>
            </a:prstGeom>
            <a:solidFill>
              <a:srgbClr val="D2D2D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354580" y="714375"/>
              <a:ext cx="12470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难度 3 · 中等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326380" y="714375"/>
              <a:ext cx="5993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1 人错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85800" y="1066800"/>
              <a:ext cx="10820400" cy="14288"/>
            </a:xfrm>
            <a:prstGeom prst="rect">
              <a:avLst/>
            </a:prstGeom>
            <a:solidFill>
              <a:srgbClr val="D2D2D7"/>
            </a:solidFill>
            <a:ln>
              <a:noFill/>
            </a:ln>
          </p:spPr>
        </p:sp>
      </p:grpSp>
      <p:grpSp>
        <p:nvGrpSpPr>
          <p:cNvPr id="16" name="q16-stem"/>
          <p:cNvGrpSpPr/>
          <p:nvPr/>
        </p:nvGrpSpPr>
        <p:grpSpPr>
          <a:xfrm>
            <a:off x="902970" y="2138362"/>
            <a:ext cx="9805111" cy="1278255"/>
            <a:chOff x="902970" y="2138362"/>
            <a:chExt cx="9805111" cy="1278255"/>
          </a:xfrm>
        </p:grpSpPr>
        <p:sp>
          <p:nvSpPr>
            <p:cNvPr id="13" name="TextBox 13"/>
            <p:cNvSpPr txBox="1"/>
            <p:nvPr/>
          </p:nvSpPr>
          <p:spPr>
            <a:xfrm>
              <a:off x="902970" y="2138362"/>
              <a:ext cx="464200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(1) 该抛物线的对称轴为______；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02970" y="2557462"/>
              <a:ext cx="714089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(2) 若该抛物线的顶点在x轴上，求抛物线的表达式；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02970" y="2976562"/>
              <a:ext cx="980511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(3) 设点M(m,y₁),N(2,y₂)在该抛物线上，若y₁&gt;y₂，求m的取值范围。</a:t>
              </a:r>
            </a:p>
          </p:txBody>
        </p:sp>
      </p:grpSp>
      <p:grpSp>
        <p:nvGrpSpPr>
          <p:cNvPr id="21" name="q16-answer"/>
          <p:cNvGrpSpPr/>
          <p:nvPr/>
        </p:nvGrpSpPr>
        <p:grpSpPr>
          <a:xfrm>
            <a:off x="685800" y="4210050"/>
            <a:ext cx="10820400" cy="1485900"/>
            <a:chOff x="685800" y="4210050"/>
            <a:chExt cx="10820400" cy="1485900"/>
          </a:xfrm>
        </p:grpSpPr>
        <p:sp>
          <p:nvSpPr>
            <p:cNvPr id="17" name="Rectangle 17"/>
            <p:cNvSpPr/>
            <p:nvPr/>
          </p:nvSpPr>
          <p:spPr>
            <a:xfrm>
              <a:off x="685800" y="4210050"/>
              <a:ext cx="10820400" cy="1485900"/>
            </a:xfrm>
            <a:prstGeom prst="roundRect">
              <a:avLst>
                <a:gd name="adj" fmla="val 1025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685800" y="4210050"/>
              <a:ext cx="57150" cy="1485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70204" y="4290060"/>
              <a:ext cx="18226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参考答案 · 练习册答案库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65632" y="4497705"/>
              <a:ext cx="8897779" cy="1172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∵抛物线的对称轴为直线x=-1，∴N(2,y₂)关于直线x=-1的对称点为N'(-4,</a:t>
              </a:r>
              <a:br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y₂)。①当a&gt;0时，若y₁&gt;y₂，则m&gt;2或m&lt;-4；当a&lt;0时，若y₁&gt;y₂，则</a:t>
              </a:r>
              <a:br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-4&lt;m&lt;2。综上，当a&gt;0时，m&gt;2或m&lt;-4；当a&lt;0时，-4&lt;m&lt;2。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q17-header"/>
          <p:cNvGrpSpPr/>
          <p:nvPr/>
        </p:nvGrpSpPr>
        <p:grpSpPr>
          <a:xfrm>
            <a:off x="685800" y="381000"/>
            <a:ext cx="10820400" cy="700088"/>
            <a:chOff x="685800" y="381000"/>
            <a:chExt cx="10820400" cy="700088"/>
          </a:xfrm>
        </p:grpSpPr>
        <p:sp>
          <p:nvSpPr>
            <p:cNvPr id="2" name="Rectangle 2"/>
            <p:cNvSpPr/>
            <p:nvPr/>
          </p:nvSpPr>
          <p:spPr>
            <a:xfrm>
              <a:off x="685800" y="381000"/>
              <a:ext cx="609600" cy="609600"/>
            </a:xfrm>
            <a:prstGeom prst="roundRect">
              <a:avLst>
                <a:gd name="adj" fmla="val 25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66978" y="489585"/>
              <a:ext cx="44724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478280" y="447675"/>
              <a:ext cx="19638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2026-09-13 · 解答题</a:t>
              </a:r>
            </a:p>
          </p:txBody>
        </p:sp>
        <p:sp>
          <p:nvSpPr>
            <p:cNvPr id="5" name="Ellipse 5"/>
            <p:cNvSpPr/>
            <p:nvPr/>
          </p:nvSpPr>
          <p:spPr>
            <a:xfrm>
              <a:off x="1514475" y="771525"/>
              <a:ext cx="95250" cy="952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704975" y="771525"/>
              <a:ext cx="95250" cy="952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895475" y="771525"/>
              <a:ext cx="95250" cy="952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2085975" y="771525"/>
              <a:ext cx="95250" cy="95250"/>
            </a:xfrm>
            <a:prstGeom prst="ellipse">
              <a:avLst/>
            </a:prstGeom>
            <a:solidFill>
              <a:srgbClr val="D2D2D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354580" y="714375"/>
              <a:ext cx="12470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难度 3 · 中等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326380" y="714375"/>
              <a:ext cx="5993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1 人错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85800" y="1066800"/>
              <a:ext cx="10820400" cy="14288"/>
            </a:xfrm>
            <a:prstGeom prst="rect">
              <a:avLst/>
            </a:prstGeom>
            <a:solidFill>
              <a:srgbClr val="D2D2D7"/>
            </a:solidFill>
            <a:ln>
              <a:noFill/>
            </a:ln>
          </p:spPr>
        </p:sp>
      </p:grpSp>
      <p:grpSp>
        <p:nvGrpSpPr>
          <p:cNvPr id="16" name="q17-stem"/>
          <p:cNvGrpSpPr/>
          <p:nvPr/>
        </p:nvGrpSpPr>
        <p:grpSpPr>
          <a:xfrm>
            <a:off x="902970" y="2614612"/>
            <a:ext cx="8052435" cy="1697355"/>
            <a:chOff x="902970" y="2614612"/>
            <a:chExt cx="8052435" cy="1697355"/>
          </a:xfrm>
        </p:grpSpPr>
        <p:sp>
          <p:nvSpPr>
            <p:cNvPr id="13" name="TextBox 13"/>
            <p:cNvSpPr txBox="1"/>
            <p:nvPr/>
          </p:nvSpPr>
          <p:spPr>
            <a:xfrm>
              <a:off x="902970" y="2614612"/>
              <a:ext cx="364245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(1) 求该抛物线的表达式；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02970" y="3033712"/>
              <a:ext cx="8052435" cy="8591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300"/>
                </a:lnSpc>
              </a:pPr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(2) 当-2≤m≤5/2且m≠0时：①求n的取值范围；②若S△ABC=S△ABD</a:t>
              </a:r>
              <a:br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，求m的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02970" y="3871912"/>
              <a:ext cx="62865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值。</a:t>
              </a:r>
            </a:p>
          </p:txBody>
        </p:sp>
      </p:grpSp>
      <p:grpSp>
        <p:nvGrpSpPr>
          <p:cNvPr id="19" name="q17-figure"/>
          <p:cNvGrpSpPr/>
          <p:nvPr/>
        </p:nvGrpSpPr>
        <p:grpSpPr>
          <a:xfrm>
            <a:off x="9601200" y="1428750"/>
            <a:ext cx="1905000" cy="2476500"/>
            <a:chOff x="9601200" y="1428750"/>
            <a:chExt cx="1905000" cy="2476500"/>
          </a:xfrm>
        </p:grpSpPr>
        <p:sp>
          <p:nvSpPr>
            <p:cNvPr id="17" name="Rectangle 17"/>
            <p:cNvSpPr/>
            <p:nvPr/>
          </p:nvSpPr>
          <p:spPr>
            <a:xfrm>
              <a:off x="9601200" y="1428750"/>
              <a:ext cx="1905000" cy="2476500"/>
            </a:xfrm>
            <a:prstGeom prst="roundRect">
              <a:avLst>
                <a:gd name="adj" fmla="val 8000"/>
              </a:avLst>
            </a:prstGeom>
            <a:solidFill>
              <a:schemeClr val="lt2"/>
            </a:solidFill>
            <a:ln>
              <a:noFill/>
            </a:ln>
          </p:spPr>
        </p:sp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791700" y="1816418"/>
              <a:ext cx="1524000" cy="1701165"/>
            </a:xfrm>
            <a:prstGeom prst="rect">
              <a:avLst/>
            </a:prstGeom>
          </p:spPr>
        </p:pic>
      </p:grpSp>
      <p:grpSp>
        <p:nvGrpSpPr>
          <p:cNvPr id="24" name="q17-answer"/>
          <p:cNvGrpSpPr/>
          <p:nvPr/>
        </p:nvGrpSpPr>
        <p:grpSpPr>
          <a:xfrm>
            <a:off x="685800" y="4267200"/>
            <a:ext cx="10820400" cy="1104900"/>
            <a:chOff x="685800" y="4267200"/>
            <a:chExt cx="10820400" cy="1104900"/>
          </a:xfrm>
        </p:grpSpPr>
        <p:sp>
          <p:nvSpPr>
            <p:cNvPr id="20" name="Rectangle 20"/>
            <p:cNvSpPr/>
            <p:nvPr/>
          </p:nvSpPr>
          <p:spPr>
            <a:xfrm>
              <a:off x="685800" y="4267200"/>
              <a:ext cx="10820400" cy="1104900"/>
            </a:xfrm>
            <a:prstGeom prst="roundRect">
              <a:avLst>
                <a:gd name="adj" fmla="val 1379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685800" y="4267200"/>
              <a:ext cx="57150" cy="1104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70204" y="4347210"/>
              <a:ext cx="18226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参考答案 · 练习册答案库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65632" y="4554855"/>
              <a:ext cx="882114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解：(1)∵顶点坐标为(1,4)，∴设该抛物线的表达式为y=a(x-1)²+4。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0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q18-header"/>
          <p:cNvGrpSpPr/>
          <p:nvPr/>
        </p:nvGrpSpPr>
        <p:grpSpPr>
          <a:xfrm>
            <a:off x="685800" y="381000"/>
            <a:ext cx="10820400" cy="700088"/>
            <a:chOff x="685800" y="381000"/>
            <a:chExt cx="10820400" cy="700088"/>
          </a:xfrm>
        </p:grpSpPr>
        <p:sp>
          <p:nvSpPr>
            <p:cNvPr id="2" name="Rectangle 2"/>
            <p:cNvSpPr/>
            <p:nvPr/>
          </p:nvSpPr>
          <p:spPr>
            <a:xfrm>
              <a:off x="685800" y="381000"/>
              <a:ext cx="609600" cy="609600"/>
            </a:xfrm>
            <a:prstGeom prst="roundRect">
              <a:avLst>
                <a:gd name="adj" fmla="val 25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66978" y="489585"/>
              <a:ext cx="44724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478280" y="447675"/>
              <a:ext cx="19638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2026-09-13 · 解答题</a:t>
              </a:r>
            </a:p>
          </p:txBody>
        </p:sp>
        <p:sp>
          <p:nvSpPr>
            <p:cNvPr id="5" name="Ellipse 5"/>
            <p:cNvSpPr/>
            <p:nvPr/>
          </p:nvSpPr>
          <p:spPr>
            <a:xfrm>
              <a:off x="1514475" y="77152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704975" y="77152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895475" y="77152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2085975" y="77152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354580" y="714375"/>
              <a:ext cx="12470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难度 4 · 较难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326380" y="714375"/>
              <a:ext cx="5993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1 人错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85800" y="1066800"/>
              <a:ext cx="10820400" cy="14288"/>
            </a:xfrm>
            <a:prstGeom prst="rect">
              <a:avLst/>
            </a:prstGeom>
            <a:solidFill>
              <a:srgbClr val="D2D2D7"/>
            </a:solidFill>
            <a:ln>
              <a:noFill/>
            </a:ln>
          </p:spPr>
        </p:sp>
      </p:grpSp>
      <p:grpSp>
        <p:nvGrpSpPr>
          <p:cNvPr id="15" name="q18-stem"/>
          <p:cNvGrpSpPr/>
          <p:nvPr/>
        </p:nvGrpSpPr>
        <p:grpSpPr>
          <a:xfrm>
            <a:off x="902970" y="2614612"/>
            <a:ext cx="7236905" cy="859155"/>
            <a:chOff x="902970" y="2614612"/>
            <a:chExt cx="7236905" cy="859155"/>
          </a:xfrm>
        </p:grpSpPr>
        <p:sp>
          <p:nvSpPr>
            <p:cNvPr id="13" name="TextBox 13"/>
            <p:cNvSpPr txBox="1"/>
            <p:nvPr/>
          </p:nvSpPr>
          <p:spPr>
            <a:xfrm>
              <a:off x="902970" y="2614612"/>
              <a:ext cx="411194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(1) 求出该二次函数的表达式;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02970" y="3033712"/>
              <a:ext cx="723690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(2) 点M(m,t),N(m+2,t)都在该抛物线上,求m的值.</a:t>
              </a:r>
            </a:p>
          </p:txBody>
        </p:sp>
      </p:grpSp>
      <p:grpSp>
        <p:nvGrpSpPr>
          <p:cNvPr id="18" name="q18-figure"/>
          <p:cNvGrpSpPr/>
          <p:nvPr/>
        </p:nvGrpSpPr>
        <p:grpSpPr>
          <a:xfrm>
            <a:off x="9601200" y="1428750"/>
            <a:ext cx="1905000" cy="2476500"/>
            <a:chOff x="9601200" y="1428750"/>
            <a:chExt cx="1905000" cy="2476500"/>
          </a:xfrm>
        </p:grpSpPr>
        <p:sp>
          <p:nvSpPr>
            <p:cNvPr id="16" name="Rectangle 16"/>
            <p:cNvSpPr/>
            <p:nvPr/>
          </p:nvSpPr>
          <p:spPr>
            <a:xfrm>
              <a:off x="9601200" y="1428750"/>
              <a:ext cx="1905000" cy="2476500"/>
            </a:xfrm>
            <a:prstGeom prst="roundRect">
              <a:avLst>
                <a:gd name="adj" fmla="val 8000"/>
              </a:avLst>
            </a:prstGeom>
            <a:solidFill>
              <a:schemeClr val="lt2"/>
            </a:solidFill>
            <a:ln>
              <a:noFill/>
            </a:ln>
          </p:spPr>
        </p:sp>
        <p:pic>
          <p:nvPicPr>
            <p:cNvPr id="17" name="Image 1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791700" y="1928091"/>
              <a:ext cx="1524000" cy="1477818"/>
            </a:xfrm>
            <a:prstGeom prst="rect">
              <a:avLst/>
            </a:prstGeom>
          </p:spPr>
        </p:pic>
      </p:grpSp>
      <p:grpSp>
        <p:nvGrpSpPr>
          <p:cNvPr id="23" name="q18-answer"/>
          <p:cNvGrpSpPr/>
          <p:nvPr/>
        </p:nvGrpSpPr>
        <p:grpSpPr>
          <a:xfrm>
            <a:off x="685800" y="3848100"/>
            <a:ext cx="10820400" cy="1485900"/>
            <a:chOff x="685800" y="3848100"/>
            <a:chExt cx="10820400" cy="1485900"/>
          </a:xfrm>
        </p:grpSpPr>
        <p:sp>
          <p:nvSpPr>
            <p:cNvPr id="19" name="Rectangle 19"/>
            <p:cNvSpPr/>
            <p:nvPr/>
          </p:nvSpPr>
          <p:spPr>
            <a:xfrm>
              <a:off x="685800" y="3848100"/>
              <a:ext cx="10820400" cy="1485900"/>
            </a:xfrm>
            <a:prstGeom prst="roundRect">
              <a:avLst>
                <a:gd name="adj" fmla="val 1025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85800" y="3848100"/>
              <a:ext cx="57150" cy="1485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70204" y="3928110"/>
              <a:ext cx="18226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参考答案 · 练习册答案库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65632" y="4135755"/>
              <a:ext cx="8909114" cy="1172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∵二次函数的顶点坐标是(-1,3)，∴设二次函数的表达式为y=a(x+1)²+3。</a:t>
              </a:r>
              <a:br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将(0,0)代入y=a(x+1)²+3，得a=-3，∴该二次函数的表达式为y=-3(x+1)</a:t>
              </a:r>
              <a:br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²+3。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0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q19-header"/>
          <p:cNvGrpSpPr/>
          <p:nvPr/>
        </p:nvGrpSpPr>
        <p:grpSpPr>
          <a:xfrm>
            <a:off x="685800" y="381000"/>
            <a:ext cx="10820400" cy="700088"/>
            <a:chOff x="685800" y="381000"/>
            <a:chExt cx="10820400" cy="700088"/>
          </a:xfrm>
        </p:grpSpPr>
        <p:sp>
          <p:nvSpPr>
            <p:cNvPr id="2" name="Rectangle 2"/>
            <p:cNvSpPr/>
            <p:nvPr/>
          </p:nvSpPr>
          <p:spPr>
            <a:xfrm>
              <a:off x="685800" y="381000"/>
              <a:ext cx="609600" cy="609600"/>
            </a:xfrm>
            <a:prstGeom prst="roundRect">
              <a:avLst>
                <a:gd name="adj" fmla="val 25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66978" y="489585"/>
              <a:ext cx="44724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478280" y="447675"/>
              <a:ext cx="19638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2026-09-13 · 解答题</a:t>
              </a:r>
            </a:p>
          </p:txBody>
        </p:sp>
        <p:sp>
          <p:nvSpPr>
            <p:cNvPr id="5" name="Ellipse 5"/>
            <p:cNvSpPr/>
            <p:nvPr/>
          </p:nvSpPr>
          <p:spPr>
            <a:xfrm>
              <a:off x="1514475" y="77152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704975" y="77152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895475" y="77152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2085975" y="77152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354580" y="714375"/>
              <a:ext cx="12470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难度 4 · 较难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326380" y="714375"/>
              <a:ext cx="5993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1 人错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85800" y="1066800"/>
              <a:ext cx="10820400" cy="14288"/>
            </a:xfrm>
            <a:prstGeom prst="rect">
              <a:avLst/>
            </a:prstGeom>
            <a:solidFill>
              <a:srgbClr val="D2D2D7"/>
            </a:solidFill>
            <a:ln>
              <a:noFill/>
            </a:ln>
          </p:spPr>
        </p:sp>
      </p:grpSp>
      <p:grpSp>
        <p:nvGrpSpPr>
          <p:cNvPr id="16" name="q19-stem"/>
          <p:cNvGrpSpPr/>
          <p:nvPr/>
        </p:nvGrpSpPr>
        <p:grpSpPr>
          <a:xfrm>
            <a:off x="674370" y="1662112"/>
            <a:ext cx="8539524" cy="1278255"/>
            <a:chOff x="674370" y="1662112"/>
            <a:chExt cx="8539524" cy="1278255"/>
          </a:xfrm>
        </p:grpSpPr>
        <p:sp>
          <p:nvSpPr>
            <p:cNvPr id="13" name="TextBox 13"/>
            <p:cNvSpPr txBox="1"/>
            <p:nvPr/>
          </p:nvSpPr>
          <p:spPr>
            <a:xfrm>
              <a:off x="674370" y="1662112"/>
              <a:ext cx="84393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如图，已知平行四边形ABCD顶点A的坐标为(2,6)，点B在y轴上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4370" y="2081212"/>
              <a:ext cx="853952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，且AD//BC//x轴，过B、C、D三点的抛物线的顶点坐标为(2,2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74370" y="2500312"/>
              <a:ext cx="485403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)，则抛物线的表达式是y=______。</a:t>
              </a:r>
            </a:p>
          </p:txBody>
        </p:sp>
      </p:grpSp>
      <p:grpSp>
        <p:nvGrpSpPr>
          <p:cNvPr id="19" name="q19-figure"/>
          <p:cNvGrpSpPr/>
          <p:nvPr/>
        </p:nvGrpSpPr>
        <p:grpSpPr>
          <a:xfrm>
            <a:off x="9601200" y="1428750"/>
            <a:ext cx="1905000" cy="2095500"/>
            <a:chOff x="9601200" y="1428750"/>
            <a:chExt cx="1905000" cy="2095500"/>
          </a:xfrm>
        </p:grpSpPr>
        <p:sp>
          <p:nvSpPr>
            <p:cNvPr id="17" name="Rectangle 17"/>
            <p:cNvSpPr/>
            <p:nvPr/>
          </p:nvSpPr>
          <p:spPr>
            <a:xfrm>
              <a:off x="9601200" y="1428750"/>
              <a:ext cx="1905000" cy="2095500"/>
            </a:xfrm>
            <a:prstGeom prst="roundRect">
              <a:avLst>
                <a:gd name="adj" fmla="val 8000"/>
              </a:avLst>
            </a:prstGeom>
            <a:solidFill>
              <a:schemeClr val="lt2"/>
            </a:solidFill>
            <a:ln>
              <a:noFill/>
            </a:ln>
          </p:spPr>
        </p:sp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01826" y="1619250"/>
              <a:ext cx="1503748" cy="1714500"/>
            </a:xfrm>
            <a:prstGeom prst="rect">
              <a:avLst/>
            </a:prstGeom>
          </p:spPr>
        </p:pic>
      </p:grpSp>
      <p:grpSp>
        <p:nvGrpSpPr>
          <p:cNvPr id="24" name="q19-answer"/>
          <p:cNvGrpSpPr/>
          <p:nvPr/>
        </p:nvGrpSpPr>
        <p:grpSpPr>
          <a:xfrm>
            <a:off x="685800" y="3314700"/>
            <a:ext cx="10820400" cy="2247900"/>
            <a:chOff x="685800" y="3314700"/>
            <a:chExt cx="10820400" cy="2247900"/>
          </a:xfrm>
        </p:grpSpPr>
        <p:sp>
          <p:nvSpPr>
            <p:cNvPr id="20" name="Rectangle 20"/>
            <p:cNvSpPr/>
            <p:nvPr/>
          </p:nvSpPr>
          <p:spPr>
            <a:xfrm>
              <a:off x="685800" y="3314700"/>
              <a:ext cx="10820400" cy="2247900"/>
            </a:xfrm>
            <a:prstGeom prst="roundRect">
              <a:avLst>
                <a:gd name="adj" fmla="val 678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685800" y="3314700"/>
              <a:ext cx="57150" cy="22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70204" y="3394710"/>
              <a:ext cx="18226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参考答案 · 练习册答案库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65632" y="3602355"/>
              <a:ext cx="9301163" cy="1553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1/4(x-2)²+2 解析：∵过B,C,D三点的抛物线的顶点坐标为(2,2),AD//BC//x</a:t>
              </a:r>
              <a:br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轴，∴BC=4。∵四边形ABCD是平行四边形，∴AD=BC=4。∵点A的坐标为(2,</a:t>
              </a:r>
              <a:br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6)，∴D(6,6)。设抛物线为y=a(x-2)²+2，代入点D的坐标，得6=16a+2，</a:t>
              </a:r>
              <a:br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解得a=1/4，∴抛物线的表达式为y=1/4(x-2)²+2。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0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q20-header"/>
          <p:cNvGrpSpPr/>
          <p:nvPr/>
        </p:nvGrpSpPr>
        <p:grpSpPr>
          <a:xfrm>
            <a:off x="685800" y="381000"/>
            <a:ext cx="10820400" cy="700088"/>
            <a:chOff x="685800" y="381000"/>
            <a:chExt cx="10820400" cy="700088"/>
          </a:xfrm>
        </p:grpSpPr>
        <p:sp>
          <p:nvSpPr>
            <p:cNvPr id="2" name="Rectangle 2"/>
            <p:cNvSpPr/>
            <p:nvPr/>
          </p:nvSpPr>
          <p:spPr>
            <a:xfrm>
              <a:off x="685800" y="381000"/>
              <a:ext cx="609600" cy="609600"/>
            </a:xfrm>
            <a:prstGeom prst="roundRect">
              <a:avLst>
                <a:gd name="adj" fmla="val 25000"/>
              </a:avLst>
            </a:prstGeom>
            <a:solidFill>
              <a:srgbClr val="86868B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66978" y="489585"/>
              <a:ext cx="44724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478280" y="447675"/>
              <a:ext cx="23677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2026-09-13 · 难度未判定</a:t>
              </a:r>
            </a:p>
          </p:txBody>
        </p:sp>
        <p:sp>
          <p:nvSpPr>
            <p:cNvPr id="5" name="Ellipse 5"/>
            <p:cNvSpPr/>
            <p:nvPr/>
          </p:nvSpPr>
          <p:spPr>
            <a:xfrm>
              <a:off x="1514475" y="771525"/>
              <a:ext cx="95250" cy="95250"/>
            </a:xfrm>
            <a:prstGeom prst="ellipse">
              <a:avLst/>
            </a:prstGeom>
            <a:solidFill>
              <a:srgbClr val="D2D2D7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704975" y="771525"/>
              <a:ext cx="95250" cy="95250"/>
            </a:xfrm>
            <a:prstGeom prst="ellipse">
              <a:avLst/>
            </a:prstGeom>
            <a:solidFill>
              <a:srgbClr val="D2D2D7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895475" y="771525"/>
              <a:ext cx="95250" cy="95250"/>
            </a:xfrm>
            <a:prstGeom prst="ellipse">
              <a:avLst/>
            </a:prstGeom>
            <a:solidFill>
              <a:srgbClr val="D2D2D7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2085975" y="771525"/>
              <a:ext cx="95250" cy="95250"/>
            </a:xfrm>
            <a:prstGeom prst="ellipse">
              <a:avLst/>
            </a:prstGeom>
            <a:solidFill>
              <a:srgbClr val="D2D2D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354580" y="7143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难度未判定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326380" y="714375"/>
              <a:ext cx="23303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 人错 · ⚠ 答案疑似错配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85800" y="1066800"/>
              <a:ext cx="10820400" cy="14288"/>
            </a:xfrm>
            <a:prstGeom prst="rect">
              <a:avLst/>
            </a:prstGeom>
            <a:solidFill>
              <a:srgbClr val="D2D2D7"/>
            </a:solidFill>
            <a:ln>
              <a:noFill/>
            </a:ln>
          </p:spPr>
        </p:sp>
      </p:grpSp>
      <p:grpSp>
        <p:nvGrpSpPr>
          <p:cNvPr id="17" name="q20-stem"/>
          <p:cNvGrpSpPr/>
          <p:nvPr/>
        </p:nvGrpSpPr>
        <p:grpSpPr>
          <a:xfrm>
            <a:off x="674370" y="1662112"/>
            <a:ext cx="10052399" cy="2116455"/>
            <a:chOff x="674370" y="1662112"/>
            <a:chExt cx="10052399" cy="2116455"/>
          </a:xfrm>
        </p:grpSpPr>
        <p:sp>
          <p:nvSpPr>
            <p:cNvPr id="13" name="TextBox 13"/>
            <p:cNvSpPr txBox="1"/>
            <p:nvPr/>
          </p:nvSpPr>
          <p:spPr>
            <a:xfrm>
              <a:off x="674370" y="1662112"/>
              <a:ext cx="9509760" cy="8591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300"/>
                </a:lnSpc>
              </a:pPr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定义：如果直线y=-1与开口向下的抛物线有两个交点，那么这两个交点之间</a:t>
              </a:r>
              <a:br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的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4370" y="2500312"/>
              <a:ext cx="989209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距离叫作这条抛物线的“反碟长”。如图，抛物线L₁:y=-x²随其顶点沿直线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74370" y="2919412"/>
              <a:ext cx="1005239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y=1/2x平移一定距离后，得到新抛物线L₂的“反碟长”恰好为4，那么抛物线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74370" y="3338512"/>
              <a:ext cx="319182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L₂的表达式是______。</a:t>
              </a:r>
            </a:p>
          </p:txBody>
        </p:sp>
      </p:grpSp>
      <p:grpSp>
        <p:nvGrpSpPr>
          <p:cNvPr id="22" name="q20-answer"/>
          <p:cNvGrpSpPr/>
          <p:nvPr/>
        </p:nvGrpSpPr>
        <p:grpSpPr>
          <a:xfrm>
            <a:off x="685800" y="4152900"/>
            <a:ext cx="10820400" cy="1485900"/>
            <a:chOff x="685800" y="4152900"/>
            <a:chExt cx="10820400" cy="1485900"/>
          </a:xfrm>
        </p:grpSpPr>
        <p:sp>
          <p:nvSpPr>
            <p:cNvPr id="18" name="Rectangle 18"/>
            <p:cNvSpPr/>
            <p:nvPr/>
          </p:nvSpPr>
          <p:spPr>
            <a:xfrm>
              <a:off x="685800" y="4152900"/>
              <a:ext cx="10820400" cy="1485900"/>
            </a:xfrm>
            <a:prstGeom prst="roundRect">
              <a:avLst>
                <a:gd name="adj" fmla="val 1025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685800" y="4152900"/>
              <a:ext cx="57150" cy="1485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70204" y="4232910"/>
              <a:ext cx="50107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⚠ 参考答案疑似与本题不匹配（可能错位），讲前请核对原卷/答案库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65632" y="4440555"/>
              <a:ext cx="7885652" cy="1172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解：(1) 由题意知 (-1,b) 既在 y=-3x+3 上，又在 y=ax²+1 上，</a:t>
              </a:r>
              <a:br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∴ b=-3×(-1)+3=6，6=a×(-1)²+1，解得 a=5。</a:t>
              </a:r>
              <a:br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4×4/5)/2 + (4×1)/2 = 18/5。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q21-header"/>
          <p:cNvGrpSpPr/>
          <p:nvPr/>
        </p:nvGrpSpPr>
        <p:grpSpPr>
          <a:xfrm>
            <a:off x="685800" y="381000"/>
            <a:ext cx="10820400" cy="700088"/>
            <a:chOff x="685800" y="381000"/>
            <a:chExt cx="10820400" cy="700088"/>
          </a:xfrm>
        </p:grpSpPr>
        <p:sp>
          <p:nvSpPr>
            <p:cNvPr id="2" name="Rectangle 2"/>
            <p:cNvSpPr/>
            <p:nvPr/>
          </p:nvSpPr>
          <p:spPr>
            <a:xfrm>
              <a:off x="685800" y="381000"/>
              <a:ext cx="609600" cy="609600"/>
            </a:xfrm>
            <a:prstGeom prst="roundRect">
              <a:avLst>
                <a:gd name="adj" fmla="val 25000"/>
              </a:avLst>
            </a:prstGeom>
            <a:solidFill>
              <a:srgbClr val="86868B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66978" y="489585"/>
              <a:ext cx="44724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478280" y="447675"/>
              <a:ext cx="23677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2026-09-13 · 难度未判定</a:t>
              </a:r>
            </a:p>
          </p:txBody>
        </p:sp>
        <p:sp>
          <p:nvSpPr>
            <p:cNvPr id="5" name="Ellipse 5"/>
            <p:cNvSpPr/>
            <p:nvPr/>
          </p:nvSpPr>
          <p:spPr>
            <a:xfrm>
              <a:off x="1514475" y="771525"/>
              <a:ext cx="95250" cy="95250"/>
            </a:xfrm>
            <a:prstGeom prst="ellipse">
              <a:avLst/>
            </a:prstGeom>
            <a:solidFill>
              <a:srgbClr val="D2D2D7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704975" y="771525"/>
              <a:ext cx="95250" cy="95250"/>
            </a:xfrm>
            <a:prstGeom prst="ellipse">
              <a:avLst/>
            </a:prstGeom>
            <a:solidFill>
              <a:srgbClr val="D2D2D7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895475" y="771525"/>
              <a:ext cx="95250" cy="95250"/>
            </a:xfrm>
            <a:prstGeom prst="ellipse">
              <a:avLst/>
            </a:prstGeom>
            <a:solidFill>
              <a:srgbClr val="D2D2D7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2085975" y="771525"/>
              <a:ext cx="95250" cy="95250"/>
            </a:xfrm>
            <a:prstGeom prst="ellipse">
              <a:avLst/>
            </a:prstGeom>
            <a:solidFill>
              <a:srgbClr val="D2D2D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354580" y="7143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难度未判定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326380" y="714375"/>
              <a:ext cx="5993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1 人错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85800" y="1066800"/>
              <a:ext cx="10820400" cy="14288"/>
            </a:xfrm>
            <a:prstGeom prst="rect">
              <a:avLst/>
            </a:prstGeom>
            <a:solidFill>
              <a:srgbClr val="D2D2D7"/>
            </a:solidFill>
            <a:ln>
              <a:noFill/>
            </a:ln>
          </p:spPr>
        </p:sp>
      </p:grpSp>
      <p:grpSp>
        <p:nvGrpSpPr>
          <p:cNvPr id="15" name="q21-stem"/>
          <p:cNvGrpSpPr/>
          <p:nvPr/>
        </p:nvGrpSpPr>
        <p:grpSpPr>
          <a:xfrm>
            <a:off x="674370" y="1662112"/>
            <a:ext cx="9724072" cy="1278255"/>
            <a:chOff x="674370" y="1662112"/>
            <a:chExt cx="9724072" cy="1278255"/>
          </a:xfrm>
        </p:grpSpPr>
        <p:sp>
          <p:nvSpPr>
            <p:cNvPr id="13" name="TextBox 13"/>
            <p:cNvSpPr txBox="1"/>
            <p:nvPr/>
          </p:nvSpPr>
          <p:spPr>
            <a:xfrm>
              <a:off x="674370" y="1662112"/>
              <a:ext cx="9724072" cy="8591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300"/>
                </a:lnSpc>
              </a:pPr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5.已知一条抛物线经过 A(0,10),B(m+2,n),C(4-m,n),D(3,1)四点,则抛物</a:t>
              </a:r>
              <a:br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线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4370" y="2500312"/>
              <a:ext cx="153733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的表达式为</a:t>
              </a:r>
            </a:p>
          </p:txBody>
        </p:sp>
      </p:grpSp>
      <p:grpSp>
        <p:nvGrpSpPr>
          <p:cNvPr id="20" name="q21-answer"/>
          <p:cNvGrpSpPr/>
          <p:nvPr/>
        </p:nvGrpSpPr>
        <p:grpSpPr>
          <a:xfrm>
            <a:off x="685800" y="2895600"/>
            <a:ext cx="10820400" cy="723900"/>
            <a:chOff x="685800" y="2895600"/>
            <a:chExt cx="10820400" cy="723900"/>
          </a:xfrm>
        </p:grpSpPr>
        <p:sp>
          <p:nvSpPr>
            <p:cNvPr id="16" name="Rectangle 16"/>
            <p:cNvSpPr/>
            <p:nvPr/>
          </p:nvSpPr>
          <p:spPr>
            <a:xfrm>
              <a:off x="685800" y="2895600"/>
              <a:ext cx="10820400" cy="723900"/>
            </a:xfrm>
            <a:prstGeom prst="roundRect">
              <a:avLst>
                <a:gd name="adj" fmla="val 2105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685800" y="2895600"/>
              <a:ext cx="57150" cy="723900"/>
            </a:xfrm>
            <a:prstGeom prst="roundRect">
              <a:avLst>
                <a:gd name="adj" fmla="val 50000"/>
              </a:avLst>
            </a:prstGeom>
            <a:solidFill>
              <a:srgbClr val="86868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70204" y="2975610"/>
              <a:ext cx="18226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参考答案 · 练习册答案库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65632" y="3164205"/>
              <a:ext cx="19383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q22-header"/>
          <p:cNvGrpSpPr/>
          <p:nvPr/>
        </p:nvGrpSpPr>
        <p:grpSpPr>
          <a:xfrm>
            <a:off x="685800" y="381000"/>
            <a:ext cx="10820400" cy="700088"/>
            <a:chOff x="685800" y="381000"/>
            <a:chExt cx="10820400" cy="700088"/>
          </a:xfrm>
        </p:grpSpPr>
        <p:sp>
          <p:nvSpPr>
            <p:cNvPr id="2" name="Rectangle 2"/>
            <p:cNvSpPr/>
            <p:nvPr/>
          </p:nvSpPr>
          <p:spPr>
            <a:xfrm>
              <a:off x="685800" y="381000"/>
              <a:ext cx="609600" cy="609600"/>
            </a:xfrm>
            <a:prstGeom prst="roundRect">
              <a:avLst>
                <a:gd name="adj" fmla="val 25000"/>
              </a:avLst>
            </a:prstGeom>
            <a:solidFill>
              <a:srgbClr val="86868B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66978" y="489585"/>
              <a:ext cx="44724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478280" y="447675"/>
              <a:ext cx="19638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2026-09-13 · 解答题</a:t>
              </a:r>
            </a:p>
          </p:txBody>
        </p:sp>
        <p:sp>
          <p:nvSpPr>
            <p:cNvPr id="5" name="Ellipse 5"/>
            <p:cNvSpPr/>
            <p:nvPr/>
          </p:nvSpPr>
          <p:spPr>
            <a:xfrm>
              <a:off x="1514475" y="771525"/>
              <a:ext cx="95250" cy="95250"/>
            </a:xfrm>
            <a:prstGeom prst="ellipse">
              <a:avLst/>
            </a:prstGeom>
            <a:solidFill>
              <a:srgbClr val="D2D2D7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704975" y="771525"/>
              <a:ext cx="95250" cy="95250"/>
            </a:xfrm>
            <a:prstGeom prst="ellipse">
              <a:avLst/>
            </a:prstGeom>
            <a:solidFill>
              <a:srgbClr val="D2D2D7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895475" y="771525"/>
              <a:ext cx="95250" cy="95250"/>
            </a:xfrm>
            <a:prstGeom prst="ellipse">
              <a:avLst/>
            </a:prstGeom>
            <a:solidFill>
              <a:srgbClr val="D2D2D7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2085975" y="771525"/>
              <a:ext cx="95250" cy="95250"/>
            </a:xfrm>
            <a:prstGeom prst="ellipse">
              <a:avLst/>
            </a:prstGeom>
            <a:solidFill>
              <a:srgbClr val="D2D2D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354580" y="7143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难度未判定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326380" y="714375"/>
              <a:ext cx="5993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1 人错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85800" y="1066800"/>
              <a:ext cx="10820400" cy="14288"/>
            </a:xfrm>
            <a:prstGeom prst="rect">
              <a:avLst/>
            </a:prstGeom>
            <a:solidFill>
              <a:srgbClr val="D2D2D7"/>
            </a:solidFill>
            <a:ln>
              <a:noFill/>
            </a:ln>
          </p:spPr>
        </p:sp>
      </p:grpSp>
      <p:grpSp>
        <p:nvGrpSpPr>
          <p:cNvPr id="15" name="q22-stem"/>
          <p:cNvGrpSpPr/>
          <p:nvPr/>
        </p:nvGrpSpPr>
        <p:grpSpPr>
          <a:xfrm>
            <a:off x="674370" y="1662112"/>
            <a:ext cx="7995285" cy="1697355"/>
            <a:chOff x="674370" y="1662112"/>
            <a:chExt cx="7995285" cy="1697355"/>
          </a:xfrm>
        </p:grpSpPr>
        <p:sp>
          <p:nvSpPr>
            <p:cNvPr id="13" name="TextBox 13"/>
            <p:cNvSpPr txBox="1"/>
            <p:nvPr/>
          </p:nvSpPr>
          <p:spPr>
            <a:xfrm>
              <a:off x="674370" y="1662112"/>
              <a:ext cx="7995285" cy="1697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300"/>
                </a:lnSpc>
              </a:pPr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6.如图,是由长方形和抛物线构成的图案,由6个全等的基本图案</a:t>
              </a:r>
              <a:br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组成,建立</a:t>
              </a:r>
              <a:br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如图所示的平面直角坐标系.若抛物线A₁的表达式为 y=-(x-6)²</a:t>
              </a:r>
              <a:br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+4,则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4370" y="2500312"/>
              <a:ext cx="279806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抛物线A₆的表达式为</a:t>
              </a:r>
            </a:p>
          </p:txBody>
        </p:sp>
      </p:grpSp>
      <p:grpSp>
        <p:nvGrpSpPr>
          <p:cNvPr id="18" name="q22-figure"/>
          <p:cNvGrpSpPr/>
          <p:nvPr/>
        </p:nvGrpSpPr>
        <p:grpSpPr>
          <a:xfrm>
            <a:off x="9601200" y="1428750"/>
            <a:ext cx="1905000" cy="2095500"/>
            <a:chOff x="9601200" y="1428750"/>
            <a:chExt cx="1905000" cy="2095500"/>
          </a:xfrm>
        </p:grpSpPr>
        <p:sp>
          <p:nvSpPr>
            <p:cNvPr id="16" name="Rectangle 16"/>
            <p:cNvSpPr/>
            <p:nvPr/>
          </p:nvSpPr>
          <p:spPr>
            <a:xfrm>
              <a:off x="9601200" y="1428750"/>
              <a:ext cx="1905000" cy="2095500"/>
            </a:xfrm>
            <a:prstGeom prst="roundRect">
              <a:avLst>
                <a:gd name="adj" fmla="val 8000"/>
              </a:avLst>
            </a:prstGeom>
            <a:solidFill>
              <a:schemeClr val="lt2"/>
            </a:solidFill>
            <a:ln>
              <a:noFill/>
            </a:ln>
          </p:spPr>
        </p:sp>
        <p:pic>
          <p:nvPicPr>
            <p:cNvPr id="17" name="Image 1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791700" y="1823124"/>
              <a:ext cx="1524000" cy="1306752"/>
            </a:xfrm>
            <a:prstGeom prst="rect">
              <a:avLst/>
            </a:prstGeom>
          </p:spPr>
        </p:pic>
      </p:grpSp>
      <p:grpSp>
        <p:nvGrpSpPr>
          <p:cNvPr id="23" name="q22-answer"/>
          <p:cNvGrpSpPr/>
          <p:nvPr/>
        </p:nvGrpSpPr>
        <p:grpSpPr>
          <a:xfrm>
            <a:off x="685800" y="3314700"/>
            <a:ext cx="10820400" cy="723900"/>
            <a:chOff x="685800" y="3314700"/>
            <a:chExt cx="10820400" cy="723900"/>
          </a:xfrm>
        </p:grpSpPr>
        <p:sp>
          <p:nvSpPr>
            <p:cNvPr id="19" name="Rectangle 19"/>
            <p:cNvSpPr/>
            <p:nvPr/>
          </p:nvSpPr>
          <p:spPr>
            <a:xfrm>
              <a:off x="685800" y="3314700"/>
              <a:ext cx="10820400" cy="723900"/>
            </a:xfrm>
            <a:prstGeom prst="roundRect">
              <a:avLst>
                <a:gd name="adj" fmla="val 2105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85800" y="3314700"/>
              <a:ext cx="57150" cy="723900"/>
            </a:xfrm>
            <a:prstGeom prst="roundRect">
              <a:avLst>
                <a:gd name="adj" fmla="val 50000"/>
              </a:avLst>
            </a:prstGeom>
            <a:solidFill>
              <a:srgbClr val="86868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70204" y="3394710"/>
              <a:ext cx="18226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参考答案 · 练习册答案库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65632" y="3583305"/>
              <a:ext cx="16539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y=(x+2)²-4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0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-field"/>
          <p:cNvSpPr/>
          <p:nvPr/>
        </p:nvSpPr>
        <p:spPr>
          <a:xfrm>
            <a:off x="0" y="0"/>
            <a:ext cx="12192000" cy="304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3" name="chapter-accent"/>
          <p:cNvSpPr/>
          <p:nvPr/>
        </p:nvSpPr>
        <p:spPr>
          <a:xfrm>
            <a:off x="685800" y="2895600"/>
            <a:ext cx="76200" cy="1143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8" name="chapter-head"/>
          <p:cNvGrpSpPr/>
          <p:nvPr/>
        </p:nvGrpSpPr>
        <p:grpSpPr>
          <a:xfrm>
            <a:off x="677418" y="1041082"/>
            <a:ext cx="4201173" cy="3281363"/>
            <a:chOff x="677418" y="1041082"/>
            <a:chExt cx="4201173" cy="3281363"/>
          </a:xfrm>
        </p:grpSpPr>
        <p:sp>
          <p:nvSpPr>
            <p:cNvPr id="4" name="TextBox 4"/>
            <p:cNvSpPr txBox="1"/>
            <p:nvPr/>
          </p:nvSpPr>
          <p:spPr>
            <a:xfrm>
              <a:off x="677418" y="1041082"/>
              <a:ext cx="185267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SECTION 04 / 05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33450" y="2529840"/>
              <a:ext cx="3769766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2026-09-12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41832" y="3507105"/>
              <a:ext cx="393675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 题 · 难度未判定 2 · 1 名学生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44880" y="402907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错的学生：张诗蕊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q23-header"/>
          <p:cNvGrpSpPr/>
          <p:nvPr/>
        </p:nvGrpSpPr>
        <p:grpSpPr>
          <a:xfrm>
            <a:off x="685800" y="381000"/>
            <a:ext cx="10820400" cy="700088"/>
            <a:chOff x="685800" y="381000"/>
            <a:chExt cx="10820400" cy="700088"/>
          </a:xfrm>
        </p:grpSpPr>
        <p:sp>
          <p:nvSpPr>
            <p:cNvPr id="2" name="Rectangle 2"/>
            <p:cNvSpPr/>
            <p:nvPr/>
          </p:nvSpPr>
          <p:spPr>
            <a:xfrm>
              <a:off x="685800" y="381000"/>
              <a:ext cx="609600" cy="609600"/>
            </a:xfrm>
            <a:prstGeom prst="roundRect">
              <a:avLst>
                <a:gd name="adj" fmla="val 25000"/>
              </a:avLst>
            </a:prstGeom>
            <a:solidFill>
              <a:srgbClr val="86868B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66978" y="489585"/>
              <a:ext cx="44724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478280" y="447675"/>
              <a:ext cx="23677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2026-09-12 · 难度未判定</a:t>
              </a:r>
            </a:p>
          </p:txBody>
        </p:sp>
        <p:sp>
          <p:nvSpPr>
            <p:cNvPr id="5" name="Ellipse 5"/>
            <p:cNvSpPr/>
            <p:nvPr/>
          </p:nvSpPr>
          <p:spPr>
            <a:xfrm>
              <a:off x="1514475" y="771525"/>
              <a:ext cx="95250" cy="95250"/>
            </a:xfrm>
            <a:prstGeom prst="ellipse">
              <a:avLst/>
            </a:prstGeom>
            <a:solidFill>
              <a:srgbClr val="D2D2D7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704975" y="771525"/>
              <a:ext cx="95250" cy="95250"/>
            </a:xfrm>
            <a:prstGeom prst="ellipse">
              <a:avLst/>
            </a:prstGeom>
            <a:solidFill>
              <a:srgbClr val="D2D2D7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895475" y="771525"/>
              <a:ext cx="95250" cy="95250"/>
            </a:xfrm>
            <a:prstGeom prst="ellipse">
              <a:avLst/>
            </a:prstGeom>
            <a:solidFill>
              <a:srgbClr val="D2D2D7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2085975" y="771525"/>
              <a:ext cx="95250" cy="95250"/>
            </a:xfrm>
            <a:prstGeom prst="ellipse">
              <a:avLst/>
            </a:prstGeom>
            <a:solidFill>
              <a:srgbClr val="D2D2D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354580" y="7143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难度未判定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326380" y="714375"/>
              <a:ext cx="23303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 人错 · ⚠ 答案疑似错配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85800" y="1066800"/>
              <a:ext cx="10820400" cy="14288"/>
            </a:xfrm>
            <a:prstGeom prst="rect">
              <a:avLst/>
            </a:prstGeom>
            <a:solidFill>
              <a:srgbClr val="D2D2D7"/>
            </a:solidFill>
            <a:ln>
              <a:noFill/>
            </a:ln>
          </p:spPr>
        </p:sp>
      </p:grpSp>
      <p:grpSp>
        <p:nvGrpSpPr>
          <p:cNvPr id="14" name="q23-stem"/>
          <p:cNvGrpSpPr/>
          <p:nvPr/>
        </p:nvGrpSpPr>
        <p:grpSpPr>
          <a:xfrm>
            <a:off x="675894" y="1408748"/>
            <a:ext cx="8316087" cy="1410081"/>
            <a:chOff x="675894" y="1408748"/>
            <a:chExt cx="8316087" cy="1410081"/>
          </a:xfrm>
        </p:grpSpPr>
        <p:sp>
          <p:nvSpPr>
            <p:cNvPr id="13" name="TextBox 13"/>
            <p:cNvSpPr txBox="1"/>
            <p:nvPr/>
          </p:nvSpPr>
          <p:spPr>
            <a:xfrm>
              <a:off x="675894" y="1408748"/>
              <a:ext cx="8316087" cy="14100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定义：如果直线y=-1与开口向下的抛物线有两个交点，那么这两个交点之间</a:t>
              </a:r>
              <a:br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的距离叫作这条抛物线的“反碟长”。如图，抛物线L₁:y=-x²随其顶点沿直线</a:t>
              </a:r>
              <a:br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y=1/2x平移一定距离后，得到新抛物线L₂的“反碟长”恰好为4，那么抛物线</a:t>
              </a:r>
              <a:br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L₂的表达式是______。</a:t>
              </a:r>
            </a:p>
          </p:txBody>
        </p:sp>
      </p:grpSp>
      <p:grpSp>
        <p:nvGrpSpPr>
          <p:cNvPr id="19" name="q23-answer"/>
          <p:cNvGrpSpPr/>
          <p:nvPr/>
        </p:nvGrpSpPr>
        <p:grpSpPr>
          <a:xfrm>
            <a:off x="685800" y="3486150"/>
            <a:ext cx="10820400" cy="2141886"/>
            <a:chOff x="685800" y="3486150"/>
            <a:chExt cx="10820400" cy="2141886"/>
          </a:xfrm>
        </p:grpSpPr>
        <p:sp>
          <p:nvSpPr>
            <p:cNvPr id="15" name="Rectangle 15"/>
            <p:cNvSpPr/>
            <p:nvPr/>
          </p:nvSpPr>
          <p:spPr>
            <a:xfrm>
              <a:off x="685800" y="3486150"/>
              <a:ext cx="10820400" cy="2114550"/>
            </a:xfrm>
            <a:prstGeom prst="roundRect">
              <a:avLst>
                <a:gd name="adj" fmla="val 720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685800" y="3486150"/>
              <a:ext cx="57150" cy="21145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70204" y="3566160"/>
              <a:ext cx="50107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⚠ 参考答案疑似与本题不匹配（可能错位），讲前请核对原卷/答案库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67537" y="3814286"/>
              <a:ext cx="7323798" cy="1813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zh-CN" sz="17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(1)1.25</a:t>
              </a:r>
            </a:p>
            <a:p>
              <a:pPr algn="l">
                <a:lnSpc>
                  <a:spcPts val="2325"/>
                </a:lnSpc>
              </a:pPr>
              <a:r>
                <a:rPr lang="zh-CN" sz="17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(2)如图1所示.</a:t>
              </a:r>
            </a:p>
            <a:p>
              <a:pPr algn="l">
                <a:lnSpc>
                  <a:spcPts val="2325"/>
                </a:lnSpc>
              </a:pPr>
              <a:r>
                <a:rPr lang="zh-CN" sz="17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(3)①由函数图像知函数图像与y=1/2有4个交点,∴对应的方程|x²-2x|=1/2</a:t>
              </a:r>
              <a:br/>
              <a:r>
                <a:rPr lang="zh-CN" sz="17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有4个实数根,故答案为4;</a:t>
              </a:r>
              <a:br/>
              <a:r>
                <a:rPr lang="zh-CN" sz="17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②如图2,由图像和表格可知方程|x²-2x|=-x+1的一个正数根约为0.4,故答案</a:t>
              </a:r>
              <a:br/>
              <a:r>
                <a:rPr lang="zh-CN" sz="17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为0.4.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q24-header"/>
          <p:cNvGrpSpPr/>
          <p:nvPr/>
        </p:nvGrpSpPr>
        <p:grpSpPr>
          <a:xfrm>
            <a:off x="685800" y="381000"/>
            <a:ext cx="10820400" cy="700088"/>
            <a:chOff x="685800" y="381000"/>
            <a:chExt cx="10820400" cy="700088"/>
          </a:xfrm>
        </p:grpSpPr>
        <p:sp>
          <p:nvSpPr>
            <p:cNvPr id="2" name="Rectangle 2"/>
            <p:cNvSpPr/>
            <p:nvPr/>
          </p:nvSpPr>
          <p:spPr>
            <a:xfrm>
              <a:off x="685800" y="381000"/>
              <a:ext cx="609600" cy="609600"/>
            </a:xfrm>
            <a:prstGeom prst="roundRect">
              <a:avLst>
                <a:gd name="adj" fmla="val 25000"/>
              </a:avLst>
            </a:prstGeom>
            <a:solidFill>
              <a:srgbClr val="86868B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66978" y="489585"/>
              <a:ext cx="44724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478280" y="447675"/>
              <a:ext cx="19638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2026-09-12 · 解答题</a:t>
              </a:r>
            </a:p>
          </p:txBody>
        </p:sp>
        <p:sp>
          <p:nvSpPr>
            <p:cNvPr id="5" name="Ellipse 5"/>
            <p:cNvSpPr/>
            <p:nvPr/>
          </p:nvSpPr>
          <p:spPr>
            <a:xfrm>
              <a:off x="1514475" y="771525"/>
              <a:ext cx="95250" cy="95250"/>
            </a:xfrm>
            <a:prstGeom prst="ellipse">
              <a:avLst/>
            </a:prstGeom>
            <a:solidFill>
              <a:srgbClr val="D2D2D7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704975" y="771525"/>
              <a:ext cx="95250" cy="95250"/>
            </a:xfrm>
            <a:prstGeom prst="ellipse">
              <a:avLst/>
            </a:prstGeom>
            <a:solidFill>
              <a:srgbClr val="D2D2D7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895475" y="771525"/>
              <a:ext cx="95250" cy="95250"/>
            </a:xfrm>
            <a:prstGeom prst="ellipse">
              <a:avLst/>
            </a:prstGeom>
            <a:solidFill>
              <a:srgbClr val="D2D2D7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2085975" y="771525"/>
              <a:ext cx="95250" cy="95250"/>
            </a:xfrm>
            <a:prstGeom prst="ellipse">
              <a:avLst/>
            </a:prstGeom>
            <a:solidFill>
              <a:srgbClr val="D2D2D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354580" y="7143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难度未判定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326380" y="714375"/>
              <a:ext cx="5993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1 人错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85800" y="1066800"/>
              <a:ext cx="10820400" cy="14288"/>
            </a:xfrm>
            <a:prstGeom prst="rect">
              <a:avLst/>
            </a:prstGeom>
            <a:solidFill>
              <a:srgbClr val="D2D2D7"/>
            </a:solidFill>
            <a:ln>
              <a:noFill/>
            </a:ln>
          </p:spPr>
        </p:sp>
      </p:grpSp>
      <p:grpSp>
        <p:nvGrpSpPr>
          <p:cNvPr id="15" name="q24-stem"/>
          <p:cNvGrpSpPr/>
          <p:nvPr/>
        </p:nvGrpSpPr>
        <p:grpSpPr>
          <a:xfrm>
            <a:off x="674370" y="1662112"/>
            <a:ext cx="7852410" cy="1697355"/>
            <a:chOff x="674370" y="1662112"/>
            <a:chExt cx="7852410" cy="1697355"/>
          </a:xfrm>
        </p:grpSpPr>
        <p:sp>
          <p:nvSpPr>
            <p:cNvPr id="13" name="TextBox 13"/>
            <p:cNvSpPr txBox="1"/>
            <p:nvPr/>
          </p:nvSpPr>
          <p:spPr>
            <a:xfrm>
              <a:off x="674370" y="1662112"/>
              <a:ext cx="7852410" cy="1697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300"/>
                </a:lnSpc>
              </a:pPr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如图，阳光透过窗口照到室内，在地面上留下2.7m宽的亮区，</a:t>
              </a:r>
              <a:br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已知亮区</a:t>
              </a:r>
              <a:br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一边到窗下的墙脚距离CE为8.7m，窗口高AB=1.m，那么窗</a:t>
              </a:r>
              <a:br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口底边离地面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4370" y="2500312"/>
              <a:ext cx="297980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的高度BC为______m.</a:t>
              </a:r>
            </a:p>
          </p:txBody>
        </p:sp>
      </p:grpSp>
      <p:grpSp>
        <p:nvGrpSpPr>
          <p:cNvPr id="18" name="q24-figure"/>
          <p:cNvGrpSpPr/>
          <p:nvPr/>
        </p:nvGrpSpPr>
        <p:grpSpPr>
          <a:xfrm>
            <a:off x="9601200" y="1428750"/>
            <a:ext cx="1905000" cy="2095500"/>
            <a:chOff x="9601200" y="1428750"/>
            <a:chExt cx="1905000" cy="2095500"/>
          </a:xfrm>
        </p:grpSpPr>
        <p:sp>
          <p:nvSpPr>
            <p:cNvPr id="16" name="Rectangle 16"/>
            <p:cNvSpPr/>
            <p:nvPr/>
          </p:nvSpPr>
          <p:spPr>
            <a:xfrm>
              <a:off x="9601200" y="1428750"/>
              <a:ext cx="1905000" cy="2095500"/>
            </a:xfrm>
            <a:prstGeom prst="roundRect">
              <a:avLst>
                <a:gd name="adj" fmla="val 8000"/>
              </a:avLst>
            </a:prstGeom>
            <a:solidFill>
              <a:schemeClr val="lt2"/>
            </a:solidFill>
            <a:ln>
              <a:noFill/>
            </a:ln>
          </p:spPr>
        </p:sp>
        <p:pic>
          <p:nvPicPr>
            <p:cNvPr id="17" name="Image 1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791700" y="1770729"/>
              <a:ext cx="1524000" cy="1411542"/>
            </a:xfrm>
            <a:prstGeom prst="rect">
              <a:avLst/>
            </a:prstGeom>
          </p:spPr>
        </p:pic>
      </p:grpSp>
      <p:grpSp>
        <p:nvGrpSpPr>
          <p:cNvPr id="23" name="q24-answer"/>
          <p:cNvGrpSpPr/>
          <p:nvPr/>
        </p:nvGrpSpPr>
        <p:grpSpPr>
          <a:xfrm>
            <a:off x="685800" y="3314700"/>
            <a:ext cx="10820400" cy="723900"/>
            <a:chOff x="685800" y="3314700"/>
            <a:chExt cx="10820400" cy="723900"/>
          </a:xfrm>
        </p:grpSpPr>
        <p:sp>
          <p:nvSpPr>
            <p:cNvPr id="19" name="Rectangle 19"/>
            <p:cNvSpPr/>
            <p:nvPr/>
          </p:nvSpPr>
          <p:spPr>
            <a:xfrm>
              <a:off x="685800" y="3314700"/>
              <a:ext cx="10820400" cy="723900"/>
            </a:xfrm>
            <a:prstGeom prst="roundRect">
              <a:avLst>
                <a:gd name="adj" fmla="val 2105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85800" y="3314700"/>
              <a:ext cx="57150" cy="723900"/>
            </a:xfrm>
            <a:prstGeom prst="roundRect">
              <a:avLst>
                <a:gd name="adj" fmla="val 50000"/>
              </a:avLst>
            </a:prstGeom>
            <a:solidFill>
              <a:srgbClr val="86868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70204" y="3394710"/>
              <a:ext cx="18226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参考答案 · 练习册答案库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65632" y="3583305"/>
              <a:ext cx="51111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5.8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0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-field"/>
          <p:cNvSpPr/>
          <p:nvPr/>
        </p:nvSpPr>
        <p:spPr>
          <a:xfrm>
            <a:off x="0" y="0"/>
            <a:ext cx="12192000" cy="304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3" name="chapter-accent"/>
          <p:cNvSpPr/>
          <p:nvPr/>
        </p:nvSpPr>
        <p:spPr>
          <a:xfrm>
            <a:off x="685800" y="2895600"/>
            <a:ext cx="76200" cy="1143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8" name="chapter-head"/>
          <p:cNvGrpSpPr/>
          <p:nvPr/>
        </p:nvGrpSpPr>
        <p:grpSpPr>
          <a:xfrm>
            <a:off x="677418" y="1041082"/>
            <a:ext cx="4483875" cy="3281363"/>
            <a:chOff x="677418" y="1041082"/>
            <a:chExt cx="4483875" cy="3281363"/>
          </a:xfrm>
        </p:grpSpPr>
        <p:sp>
          <p:nvSpPr>
            <p:cNvPr id="4" name="TextBox 4"/>
            <p:cNvSpPr txBox="1"/>
            <p:nvPr/>
          </p:nvSpPr>
          <p:spPr>
            <a:xfrm>
              <a:off x="677418" y="1041082"/>
              <a:ext cx="185267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SECTION 05 / 05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33450" y="2529840"/>
              <a:ext cx="3769766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2026-09-11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41832" y="3507105"/>
              <a:ext cx="421946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6 题 · 中等 5 · 较难 1 · 2 名学生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44880" y="402907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错的学生：丁嘉炜、李哲瀚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q25-header"/>
          <p:cNvGrpSpPr/>
          <p:nvPr/>
        </p:nvGrpSpPr>
        <p:grpSpPr>
          <a:xfrm>
            <a:off x="685800" y="381000"/>
            <a:ext cx="10820400" cy="700088"/>
            <a:chOff x="685800" y="381000"/>
            <a:chExt cx="10820400" cy="700088"/>
          </a:xfrm>
        </p:grpSpPr>
        <p:sp>
          <p:nvSpPr>
            <p:cNvPr id="2" name="Rectangle 2"/>
            <p:cNvSpPr/>
            <p:nvPr/>
          </p:nvSpPr>
          <p:spPr>
            <a:xfrm>
              <a:off x="685800" y="381000"/>
              <a:ext cx="609600" cy="609600"/>
            </a:xfrm>
            <a:prstGeom prst="roundRect">
              <a:avLst>
                <a:gd name="adj" fmla="val 25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66978" y="489585"/>
              <a:ext cx="44724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478280" y="447675"/>
              <a:ext cx="19638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2026-09-11 · 选择题</a:t>
              </a:r>
            </a:p>
          </p:txBody>
        </p:sp>
        <p:sp>
          <p:nvSpPr>
            <p:cNvPr id="5" name="Ellipse 5"/>
            <p:cNvSpPr/>
            <p:nvPr/>
          </p:nvSpPr>
          <p:spPr>
            <a:xfrm>
              <a:off x="1514475" y="771525"/>
              <a:ext cx="95250" cy="952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704975" y="771525"/>
              <a:ext cx="95250" cy="952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895475" y="771525"/>
              <a:ext cx="95250" cy="952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2085975" y="771525"/>
              <a:ext cx="95250" cy="95250"/>
            </a:xfrm>
            <a:prstGeom prst="ellipse">
              <a:avLst/>
            </a:prstGeom>
            <a:solidFill>
              <a:srgbClr val="D2D2D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354580" y="714375"/>
              <a:ext cx="12470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难度 3 · 中等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326380" y="714375"/>
              <a:ext cx="5993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1 人错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85800" y="1066800"/>
              <a:ext cx="10820400" cy="14288"/>
            </a:xfrm>
            <a:prstGeom prst="rect">
              <a:avLst/>
            </a:prstGeom>
            <a:solidFill>
              <a:srgbClr val="D2D2D7"/>
            </a:solidFill>
            <a:ln>
              <a:noFill/>
            </a:ln>
          </p:spPr>
        </p:sp>
      </p:grpSp>
      <p:grpSp>
        <p:nvGrpSpPr>
          <p:cNvPr id="16" name="q25-stem"/>
          <p:cNvGrpSpPr/>
          <p:nvPr/>
        </p:nvGrpSpPr>
        <p:grpSpPr>
          <a:xfrm>
            <a:off x="674370" y="1662112"/>
            <a:ext cx="8009572" cy="2116455"/>
            <a:chOff x="674370" y="1662112"/>
            <a:chExt cx="8009572" cy="2116455"/>
          </a:xfrm>
        </p:grpSpPr>
        <p:sp>
          <p:nvSpPr>
            <p:cNvPr id="13" name="TextBox 13"/>
            <p:cNvSpPr txBox="1"/>
            <p:nvPr/>
          </p:nvSpPr>
          <p:spPr>
            <a:xfrm>
              <a:off x="674370" y="1662112"/>
              <a:ext cx="7752398" cy="8591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300"/>
                </a:lnSpc>
              </a:pPr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1. 如图,小明打高尔夫球,小球的飞行路线是一条抛物线.如果</a:t>
              </a:r>
              <a:br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不考虑空气阻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4370" y="2500312"/>
              <a:ext cx="8009572" cy="8591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300"/>
                </a:lnSpc>
              </a:pPr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力,小球的飞行高度h(米)与飞行时间t(秒)之间满足函数关系h=</a:t>
              </a:r>
              <a:br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20t-5t².则小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74370" y="3338512"/>
              <a:ext cx="486918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球从飞出到落地瞬间所需要的时间为</a:t>
              </a:r>
            </a:p>
          </p:txBody>
        </p:sp>
      </p:grpSp>
      <p:grpSp>
        <p:nvGrpSpPr>
          <p:cNvPr id="19" name="q25-figure"/>
          <p:cNvGrpSpPr/>
          <p:nvPr/>
        </p:nvGrpSpPr>
        <p:grpSpPr>
          <a:xfrm>
            <a:off x="9601200" y="1428750"/>
            <a:ext cx="1905000" cy="2286000"/>
            <a:chOff x="9601200" y="1428750"/>
            <a:chExt cx="1905000" cy="2286000"/>
          </a:xfrm>
        </p:grpSpPr>
        <p:sp>
          <p:nvSpPr>
            <p:cNvPr id="17" name="Rectangle 17"/>
            <p:cNvSpPr/>
            <p:nvPr/>
          </p:nvSpPr>
          <p:spPr>
            <a:xfrm>
              <a:off x="9601200" y="1428750"/>
              <a:ext cx="1905000" cy="2286000"/>
            </a:xfrm>
            <a:prstGeom prst="roundRect">
              <a:avLst>
                <a:gd name="adj" fmla="val 8000"/>
              </a:avLst>
            </a:prstGeom>
            <a:solidFill>
              <a:schemeClr val="lt2"/>
            </a:solidFill>
            <a:ln>
              <a:noFill/>
            </a:ln>
          </p:spPr>
        </p:sp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791700" y="2252773"/>
              <a:ext cx="1524000" cy="637953"/>
            </a:xfrm>
            <a:prstGeom prst="rect">
              <a:avLst/>
            </a:prstGeom>
          </p:spPr>
        </p:pic>
      </p:grpSp>
      <p:grpSp>
        <p:nvGrpSpPr>
          <p:cNvPr id="24" name="q25-answer"/>
          <p:cNvGrpSpPr/>
          <p:nvPr/>
        </p:nvGrpSpPr>
        <p:grpSpPr>
          <a:xfrm>
            <a:off x="685800" y="3733800"/>
            <a:ext cx="10820400" cy="723900"/>
            <a:chOff x="685800" y="3733800"/>
            <a:chExt cx="10820400" cy="723900"/>
          </a:xfrm>
        </p:grpSpPr>
        <p:sp>
          <p:nvSpPr>
            <p:cNvPr id="20" name="Rectangle 20"/>
            <p:cNvSpPr/>
            <p:nvPr/>
          </p:nvSpPr>
          <p:spPr>
            <a:xfrm>
              <a:off x="685800" y="3733800"/>
              <a:ext cx="10820400" cy="723900"/>
            </a:xfrm>
            <a:prstGeom prst="roundRect">
              <a:avLst>
                <a:gd name="adj" fmla="val 2105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685800" y="3733800"/>
              <a:ext cx="57150" cy="723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70204" y="3813810"/>
              <a:ext cx="18226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参考答案 · 练习册答案库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65632" y="4002405"/>
              <a:ext cx="19383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0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q26-header"/>
          <p:cNvGrpSpPr/>
          <p:nvPr/>
        </p:nvGrpSpPr>
        <p:grpSpPr>
          <a:xfrm>
            <a:off x="685800" y="381000"/>
            <a:ext cx="10820400" cy="700088"/>
            <a:chOff x="685800" y="381000"/>
            <a:chExt cx="10820400" cy="700088"/>
          </a:xfrm>
        </p:grpSpPr>
        <p:sp>
          <p:nvSpPr>
            <p:cNvPr id="2" name="Rectangle 2"/>
            <p:cNvSpPr/>
            <p:nvPr/>
          </p:nvSpPr>
          <p:spPr>
            <a:xfrm>
              <a:off x="685800" y="381000"/>
              <a:ext cx="609600" cy="609600"/>
            </a:xfrm>
            <a:prstGeom prst="roundRect">
              <a:avLst>
                <a:gd name="adj" fmla="val 25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66978" y="489585"/>
              <a:ext cx="44724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478280" y="447675"/>
              <a:ext cx="19638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2026-09-11 · 解答题</a:t>
              </a:r>
            </a:p>
          </p:txBody>
        </p:sp>
        <p:sp>
          <p:nvSpPr>
            <p:cNvPr id="5" name="Ellipse 5"/>
            <p:cNvSpPr/>
            <p:nvPr/>
          </p:nvSpPr>
          <p:spPr>
            <a:xfrm>
              <a:off x="1514475" y="771525"/>
              <a:ext cx="95250" cy="952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704975" y="771525"/>
              <a:ext cx="95250" cy="952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895475" y="771525"/>
              <a:ext cx="95250" cy="952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2085975" y="771525"/>
              <a:ext cx="95250" cy="95250"/>
            </a:xfrm>
            <a:prstGeom prst="ellipse">
              <a:avLst/>
            </a:prstGeom>
            <a:solidFill>
              <a:srgbClr val="D2D2D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354580" y="714375"/>
              <a:ext cx="12470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难度 3 · 中等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326380" y="714375"/>
              <a:ext cx="5993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1 人错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85800" y="1066800"/>
              <a:ext cx="10820400" cy="14288"/>
            </a:xfrm>
            <a:prstGeom prst="rect">
              <a:avLst/>
            </a:prstGeom>
            <a:solidFill>
              <a:srgbClr val="D2D2D7"/>
            </a:solidFill>
            <a:ln>
              <a:noFill/>
            </a:ln>
          </p:spPr>
        </p:sp>
      </p:grpSp>
      <p:grpSp>
        <p:nvGrpSpPr>
          <p:cNvPr id="15" name="q26-stem"/>
          <p:cNvGrpSpPr/>
          <p:nvPr/>
        </p:nvGrpSpPr>
        <p:grpSpPr>
          <a:xfrm>
            <a:off x="902970" y="2138362"/>
            <a:ext cx="9018842" cy="859155"/>
            <a:chOff x="902970" y="2138362"/>
            <a:chExt cx="9018842" cy="859155"/>
          </a:xfrm>
        </p:grpSpPr>
        <p:sp>
          <p:nvSpPr>
            <p:cNvPr id="13" name="TextBox 13"/>
            <p:cNvSpPr txBox="1"/>
            <p:nvPr/>
          </p:nvSpPr>
          <p:spPr>
            <a:xfrm>
              <a:off x="902970" y="2138362"/>
              <a:ext cx="246116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(1) 求a、b的值；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02970" y="2557462"/>
              <a:ext cx="901884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(2) 求抛物线与直线y=x+5的两交点及顶点所构成的三角形的面积。</a:t>
              </a:r>
            </a:p>
          </p:txBody>
        </p:sp>
      </p:grpSp>
      <p:grpSp>
        <p:nvGrpSpPr>
          <p:cNvPr id="20" name="q26-answer"/>
          <p:cNvGrpSpPr/>
          <p:nvPr/>
        </p:nvGrpSpPr>
        <p:grpSpPr>
          <a:xfrm>
            <a:off x="685800" y="3790950"/>
            <a:ext cx="10820400" cy="1485900"/>
            <a:chOff x="685800" y="3790950"/>
            <a:chExt cx="10820400" cy="1485900"/>
          </a:xfrm>
        </p:grpSpPr>
        <p:sp>
          <p:nvSpPr>
            <p:cNvPr id="16" name="Rectangle 16"/>
            <p:cNvSpPr/>
            <p:nvPr/>
          </p:nvSpPr>
          <p:spPr>
            <a:xfrm>
              <a:off x="685800" y="3790950"/>
              <a:ext cx="10820400" cy="1485900"/>
            </a:xfrm>
            <a:prstGeom prst="roundRect">
              <a:avLst>
                <a:gd name="adj" fmla="val 1025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685800" y="3790950"/>
              <a:ext cx="57150" cy="1485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70204" y="3870960"/>
              <a:ext cx="18226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参考答案 · 练习册答案库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65632" y="4078605"/>
              <a:ext cx="7885652" cy="1172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解：(1) 由题意知 (-1,b) 既在 y=-3x+3 上，又在 y=ax²+1 上，</a:t>
              </a:r>
              <a:br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∴ b=-3×(-1)+3=6，6=a×(-1)²+1，解得 a=5。</a:t>
              </a:r>
              <a:br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4×4/5)/2 + (4×1)/2 = 18/5。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q27-header"/>
          <p:cNvGrpSpPr/>
          <p:nvPr/>
        </p:nvGrpSpPr>
        <p:grpSpPr>
          <a:xfrm>
            <a:off x="685800" y="381000"/>
            <a:ext cx="10820400" cy="700088"/>
            <a:chOff x="685800" y="381000"/>
            <a:chExt cx="10820400" cy="700088"/>
          </a:xfrm>
        </p:grpSpPr>
        <p:sp>
          <p:nvSpPr>
            <p:cNvPr id="2" name="Rectangle 2"/>
            <p:cNvSpPr/>
            <p:nvPr/>
          </p:nvSpPr>
          <p:spPr>
            <a:xfrm>
              <a:off x="685800" y="381000"/>
              <a:ext cx="609600" cy="609600"/>
            </a:xfrm>
            <a:prstGeom prst="roundRect">
              <a:avLst>
                <a:gd name="adj" fmla="val 25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66978" y="489585"/>
              <a:ext cx="44724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478280" y="447675"/>
              <a:ext cx="19638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2026-09-11 · 解答题</a:t>
              </a:r>
            </a:p>
          </p:txBody>
        </p:sp>
        <p:sp>
          <p:nvSpPr>
            <p:cNvPr id="5" name="Ellipse 5"/>
            <p:cNvSpPr/>
            <p:nvPr/>
          </p:nvSpPr>
          <p:spPr>
            <a:xfrm>
              <a:off x="1514475" y="771525"/>
              <a:ext cx="95250" cy="952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704975" y="771525"/>
              <a:ext cx="95250" cy="952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895475" y="771525"/>
              <a:ext cx="95250" cy="952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2085975" y="771525"/>
              <a:ext cx="95250" cy="95250"/>
            </a:xfrm>
            <a:prstGeom prst="ellipse">
              <a:avLst/>
            </a:prstGeom>
            <a:solidFill>
              <a:srgbClr val="D2D2D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354580" y="714375"/>
              <a:ext cx="12470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难度 3 · 中等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326380" y="714375"/>
              <a:ext cx="5993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1 人错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85800" y="1066800"/>
              <a:ext cx="10820400" cy="14288"/>
            </a:xfrm>
            <a:prstGeom prst="rect">
              <a:avLst/>
            </a:prstGeom>
            <a:solidFill>
              <a:srgbClr val="D2D2D7"/>
            </a:solidFill>
            <a:ln>
              <a:noFill/>
            </a:ln>
          </p:spPr>
        </p:sp>
      </p:grpSp>
      <p:grpSp>
        <p:nvGrpSpPr>
          <p:cNvPr id="16" name="q27-stem"/>
          <p:cNvGrpSpPr/>
          <p:nvPr/>
        </p:nvGrpSpPr>
        <p:grpSpPr>
          <a:xfrm>
            <a:off x="674370" y="1662112"/>
            <a:ext cx="9942671" cy="1697355"/>
            <a:chOff x="674370" y="1662112"/>
            <a:chExt cx="9942671" cy="1697355"/>
          </a:xfrm>
        </p:grpSpPr>
        <p:sp>
          <p:nvSpPr>
            <p:cNvPr id="13" name="TextBox 13"/>
            <p:cNvSpPr txBox="1"/>
            <p:nvPr/>
          </p:nvSpPr>
          <p:spPr>
            <a:xfrm>
              <a:off x="674370" y="1662112"/>
              <a:ext cx="9609772" cy="8591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300"/>
                </a:lnSpc>
              </a:pPr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4. 某种礼炮的升空高度h(m)与飞行时间t(s)的表达式是h=-5/2 t²+30t+1,</a:t>
              </a:r>
              <a:br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则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4370" y="2500312"/>
              <a:ext cx="994267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这种礼炮在点火升空到最高点引爆,则从点火升空到引爆需要的时间为____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74370" y="2919412"/>
              <a:ext cx="68922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__s.</a:t>
              </a:r>
            </a:p>
          </p:txBody>
        </p:sp>
      </p:grpSp>
      <p:grpSp>
        <p:nvGrpSpPr>
          <p:cNvPr id="21" name="q27-answer"/>
          <p:cNvGrpSpPr/>
          <p:nvPr/>
        </p:nvGrpSpPr>
        <p:grpSpPr>
          <a:xfrm>
            <a:off x="685800" y="3314700"/>
            <a:ext cx="10820400" cy="723900"/>
            <a:chOff x="685800" y="3314700"/>
            <a:chExt cx="10820400" cy="723900"/>
          </a:xfrm>
        </p:grpSpPr>
        <p:sp>
          <p:nvSpPr>
            <p:cNvPr id="17" name="Rectangle 17"/>
            <p:cNvSpPr/>
            <p:nvPr/>
          </p:nvSpPr>
          <p:spPr>
            <a:xfrm>
              <a:off x="685800" y="3314700"/>
              <a:ext cx="10820400" cy="723900"/>
            </a:xfrm>
            <a:prstGeom prst="roundRect">
              <a:avLst>
                <a:gd name="adj" fmla="val 2105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685800" y="3314700"/>
              <a:ext cx="57150" cy="723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70204" y="3394710"/>
              <a:ext cx="18226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参考答案 · 练习册答案库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65632" y="3583305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q28-header"/>
          <p:cNvGrpSpPr/>
          <p:nvPr/>
        </p:nvGrpSpPr>
        <p:grpSpPr>
          <a:xfrm>
            <a:off x="685800" y="381000"/>
            <a:ext cx="10820400" cy="700088"/>
            <a:chOff x="685800" y="381000"/>
            <a:chExt cx="10820400" cy="700088"/>
          </a:xfrm>
        </p:grpSpPr>
        <p:sp>
          <p:nvSpPr>
            <p:cNvPr id="2" name="Rectangle 2"/>
            <p:cNvSpPr/>
            <p:nvPr/>
          </p:nvSpPr>
          <p:spPr>
            <a:xfrm>
              <a:off x="685800" y="381000"/>
              <a:ext cx="609600" cy="609600"/>
            </a:xfrm>
            <a:prstGeom prst="roundRect">
              <a:avLst>
                <a:gd name="adj" fmla="val 25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66978" y="489585"/>
              <a:ext cx="44724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478280" y="447675"/>
              <a:ext cx="19638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2026-09-11 · 选择题</a:t>
              </a:r>
            </a:p>
          </p:txBody>
        </p:sp>
        <p:sp>
          <p:nvSpPr>
            <p:cNvPr id="5" name="Ellipse 5"/>
            <p:cNvSpPr/>
            <p:nvPr/>
          </p:nvSpPr>
          <p:spPr>
            <a:xfrm>
              <a:off x="1514475" y="771525"/>
              <a:ext cx="95250" cy="952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704975" y="771525"/>
              <a:ext cx="95250" cy="952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895475" y="771525"/>
              <a:ext cx="95250" cy="952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2085975" y="771525"/>
              <a:ext cx="95250" cy="95250"/>
            </a:xfrm>
            <a:prstGeom prst="ellipse">
              <a:avLst/>
            </a:prstGeom>
            <a:solidFill>
              <a:srgbClr val="D2D2D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354580" y="714375"/>
              <a:ext cx="12470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难度 3 · 中等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326380" y="714375"/>
              <a:ext cx="5993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1 人错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85800" y="1066800"/>
              <a:ext cx="10820400" cy="14288"/>
            </a:xfrm>
            <a:prstGeom prst="rect">
              <a:avLst/>
            </a:prstGeom>
            <a:solidFill>
              <a:srgbClr val="D2D2D7"/>
            </a:solidFill>
            <a:ln>
              <a:noFill/>
            </a:ln>
          </p:spPr>
        </p:sp>
      </p:grpSp>
      <p:grpSp>
        <p:nvGrpSpPr>
          <p:cNvPr id="14" name="q28-stem"/>
          <p:cNvGrpSpPr/>
          <p:nvPr/>
        </p:nvGrpSpPr>
        <p:grpSpPr>
          <a:xfrm>
            <a:off x="674370" y="1662112"/>
            <a:ext cx="9338310" cy="859155"/>
            <a:chOff x="674370" y="1662112"/>
            <a:chExt cx="9338310" cy="859155"/>
          </a:xfrm>
        </p:grpSpPr>
        <p:sp>
          <p:nvSpPr>
            <p:cNvPr id="13" name="TextBox 13"/>
            <p:cNvSpPr txBox="1"/>
            <p:nvPr/>
          </p:nvSpPr>
          <p:spPr>
            <a:xfrm>
              <a:off x="674370" y="1662112"/>
              <a:ext cx="9338310" cy="8591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300"/>
                </a:lnSpc>
              </a:pPr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5. 已知点 (x₁,y₁)、(x₂,y₂) 均在抛物线 y=x²-1 上，则下列说法正确的</a:t>
              </a:r>
              <a:br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</p:grpSp>
      <p:grpSp>
        <p:nvGrpSpPr>
          <p:cNvPr id="19" name="q28-answer"/>
          <p:cNvGrpSpPr/>
          <p:nvPr/>
        </p:nvGrpSpPr>
        <p:grpSpPr>
          <a:xfrm>
            <a:off x="685800" y="2895600"/>
            <a:ext cx="10820400" cy="723900"/>
            <a:chOff x="685800" y="2895600"/>
            <a:chExt cx="10820400" cy="723900"/>
          </a:xfrm>
        </p:grpSpPr>
        <p:sp>
          <p:nvSpPr>
            <p:cNvPr id="15" name="Rectangle 15"/>
            <p:cNvSpPr/>
            <p:nvPr/>
          </p:nvSpPr>
          <p:spPr>
            <a:xfrm>
              <a:off x="685800" y="2895600"/>
              <a:ext cx="10820400" cy="723900"/>
            </a:xfrm>
            <a:prstGeom prst="roundRect">
              <a:avLst>
                <a:gd name="adj" fmla="val 2105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685800" y="2895600"/>
              <a:ext cx="57150" cy="723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70204" y="2975610"/>
              <a:ext cx="18226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参考答案 · 练习册答案库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65632" y="3164205"/>
              <a:ext cx="19383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q29-header"/>
          <p:cNvGrpSpPr/>
          <p:nvPr/>
        </p:nvGrpSpPr>
        <p:grpSpPr>
          <a:xfrm>
            <a:off x="685800" y="381000"/>
            <a:ext cx="10820400" cy="700088"/>
            <a:chOff x="685800" y="381000"/>
            <a:chExt cx="10820400" cy="700088"/>
          </a:xfrm>
        </p:grpSpPr>
        <p:sp>
          <p:nvSpPr>
            <p:cNvPr id="2" name="Rectangle 2"/>
            <p:cNvSpPr/>
            <p:nvPr/>
          </p:nvSpPr>
          <p:spPr>
            <a:xfrm>
              <a:off x="685800" y="381000"/>
              <a:ext cx="609600" cy="609600"/>
            </a:xfrm>
            <a:prstGeom prst="roundRect">
              <a:avLst>
                <a:gd name="adj" fmla="val 25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66978" y="489585"/>
              <a:ext cx="44724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478280" y="447675"/>
              <a:ext cx="19638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2026-09-11 · 解答题</a:t>
              </a:r>
            </a:p>
          </p:txBody>
        </p:sp>
        <p:sp>
          <p:nvSpPr>
            <p:cNvPr id="5" name="Ellipse 5"/>
            <p:cNvSpPr/>
            <p:nvPr/>
          </p:nvSpPr>
          <p:spPr>
            <a:xfrm>
              <a:off x="1514475" y="771525"/>
              <a:ext cx="95250" cy="952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704975" y="771525"/>
              <a:ext cx="95250" cy="952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895475" y="771525"/>
              <a:ext cx="95250" cy="952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2085975" y="771525"/>
              <a:ext cx="95250" cy="95250"/>
            </a:xfrm>
            <a:prstGeom prst="ellipse">
              <a:avLst/>
            </a:prstGeom>
            <a:solidFill>
              <a:srgbClr val="D2D2D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354580" y="714375"/>
              <a:ext cx="12470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难度 3 · 中等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326380" y="714375"/>
              <a:ext cx="5993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1 人错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85800" y="1066800"/>
              <a:ext cx="10820400" cy="14288"/>
            </a:xfrm>
            <a:prstGeom prst="rect">
              <a:avLst/>
            </a:prstGeom>
            <a:solidFill>
              <a:srgbClr val="D2D2D7"/>
            </a:solidFill>
            <a:ln>
              <a:noFill/>
            </a:ln>
          </p:spPr>
        </p:sp>
      </p:grpSp>
      <p:grpSp>
        <p:nvGrpSpPr>
          <p:cNvPr id="15" name="q29-stem"/>
          <p:cNvGrpSpPr/>
          <p:nvPr/>
        </p:nvGrpSpPr>
        <p:grpSpPr>
          <a:xfrm>
            <a:off x="902970" y="2614612"/>
            <a:ext cx="10154698" cy="859155"/>
            <a:chOff x="902970" y="2614612"/>
            <a:chExt cx="10154698" cy="859155"/>
          </a:xfrm>
        </p:grpSpPr>
        <p:sp>
          <p:nvSpPr>
            <p:cNvPr id="13" name="TextBox 13"/>
            <p:cNvSpPr txBox="1"/>
            <p:nvPr/>
          </p:nvSpPr>
          <p:spPr>
            <a:xfrm>
              <a:off x="902970" y="2614612"/>
              <a:ext cx="246116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(1) 求a、n的值；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02970" y="3033712"/>
              <a:ext cx="1015469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(2) 在(1)的情况下，指出抛物线y=ax²+n的开口方向、对称轴和顶点坐标。</a:t>
              </a:r>
            </a:p>
          </p:txBody>
        </p:sp>
      </p:grpSp>
      <p:grpSp>
        <p:nvGrpSpPr>
          <p:cNvPr id="20" name="q29-answer"/>
          <p:cNvGrpSpPr/>
          <p:nvPr/>
        </p:nvGrpSpPr>
        <p:grpSpPr>
          <a:xfrm>
            <a:off x="685800" y="4267200"/>
            <a:ext cx="10820400" cy="1485900"/>
            <a:chOff x="685800" y="4267200"/>
            <a:chExt cx="10820400" cy="1485900"/>
          </a:xfrm>
        </p:grpSpPr>
        <p:sp>
          <p:nvSpPr>
            <p:cNvPr id="16" name="Rectangle 16"/>
            <p:cNvSpPr/>
            <p:nvPr/>
          </p:nvSpPr>
          <p:spPr>
            <a:xfrm>
              <a:off x="685800" y="4267200"/>
              <a:ext cx="10820400" cy="1485900"/>
            </a:xfrm>
            <a:prstGeom prst="roundRect">
              <a:avLst>
                <a:gd name="adj" fmla="val 1025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685800" y="4267200"/>
              <a:ext cx="57150" cy="1485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70204" y="4347210"/>
              <a:ext cx="18226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参考答案 · 练习册答案库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65632" y="4554855"/>
              <a:ext cx="8981122" cy="1172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当 a=2，n=3 时，抛物线 y=2x²+3 开口向上，对称轴为 y 轴，顶点坐标为</a:t>
              </a:r>
              <a:br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(0,3)；当 a=-2，n=-3 时，抛物线 y=-2x²-3 开口向下，对称轴为 y 轴，</a:t>
              </a:r>
              <a:br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顶点坐标为 (0,-3)。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q30-header"/>
          <p:cNvGrpSpPr/>
          <p:nvPr/>
        </p:nvGrpSpPr>
        <p:grpSpPr>
          <a:xfrm>
            <a:off x="685800" y="381000"/>
            <a:ext cx="10820400" cy="700088"/>
            <a:chOff x="685800" y="381000"/>
            <a:chExt cx="10820400" cy="700088"/>
          </a:xfrm>
        </p:grpSpPr>
        <p:sp>
          <p:nvSpPr>
            <p:cNvPr id="2" name="Rectangle 2"/>
            <p:cNvSpPr/>
            <p:nvPr/>
          </p:nvSpPr>
          <p:spPr>
            <a:xfrm>
              <a:off x="685800" y="381000"/>
              <a:ext cx="609600" cy="609600"/>
            </a:xfrm>
            <a:prstGeom prst="roundRect">
              <a:avLst>
                <a:gd name="adj" fmla="val 25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66978" y="489585"/>
              <a:ext cx="44724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478280" y="447675"/>
              <a:ext cx="30340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2026-09-11 · 解答题 · 含 2 小问</a:t>
              </a:r>
            </a:p>
          </p:txBody>
        </p:sp>
        <p:sp>
          <p:nvSpPr>
            <p:cNvPr id="5" name="Ellipse 5"/>
            <p:cNvSpPr/>
            <p:nvPr/>
          </p:nvSpPr>
          <p:spPr>
            <a:xfrm>
              <a:off x="1514475" y="77152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704975" y="77152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895475" y="77152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2085975" y="77152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354580" y="714375"/>
              <a:ext cx="12470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难度 4 · 较难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326380" y="714375"/>
              <a:ext cx="5993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1 人错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85800" y="1066800"/>
              <a:ext cx="10820400" cy="14288"/>
            </a:xfrm>
            <a:prstGeom prst="rect">
              <a:avLst/>
            </a:prstGeom>
            <a:solidFill>
              <a:srgbClr val="D2D2D7"/>
            </a:solidFill>
            <a:ln>
              <a:noFill/>
            </a:ln>
          </p:spPr>
        </p:sp>
      </p:grpSp>
      <p:grpSp>
        <p:nvGrpSpPr>
          <p:cNvPr id="16" name="q30-stem"/>
          <p:cNvGrpSpPr/>
          <p:nvPr/>
        </p:nvGrpSpPr>
        <p:grpSpPr>
          <a:xfrm>
            <a:off x="676656" y="1234440"/>
            <a:ext cx="6870002" cy="1272349"/>
            <a:chOff x="676656" y="1234440"/>
            <a:chExt cx="6870002" cy="1272349"/>
          </a:xfrm>
        </p:grpSpPr>
        <p:sp>
          <p:nvSpPr>
            <p:cNvPr id="13" name="TextBox 13"/>
            <p:cNvSpPr txBox="1"/>
            <p:nvPr/>
          </p:nvSpPr>
          <p:spPr>
            <a:xfrm>
              <a:off x="676656" y="1234440"/>
              <a:ext cx="6870002" cy="6758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如图,在矩形ABCD中,点E、F、G、H分别在边AB、BC、CD、DA上,且</a:t>
              </a:r>
              <a:br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AE=AH=CF=CG,已知AB=a,BC=b.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06018" y="1898332"/>
              <a:ext cx="507551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(1) 若b/3≤a≤3b时,求四边形EFGH的面积的最大值;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06018" y="2184082"/>
              <a:ext cx="645267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(2) 在(1)的条件下,若a=4,b=16,求四边形EFGH的面积的最大值.</a:t>
              </a:r>
            </a:p>
          </p:txBody>
        </p:sp>
      </p:grpSp>
      <p:grpSp>
        <p:nvGrpSpPr>
          <p:cNvPr id="19" name="q30-figure"/>
          <p:cNvGrpSpPr/>
          <p:nvPr/>
        </p:nvGrpSpPr>
        <p:grpSpPr>
          <a:xfrm>
            <a:off x="8801100" y="1257300"/>
            <a:ext cx="2705100" cy="2476500"/>
            <a:chOff x="8801100" y="1257300"/>
            <a:chExt cx="2705100" cy="2476500"/>
          </a:xfrm>
        </p:grpSpPr>
        <p:sp>
          <p:nvSpPr>
            <p:cNvPr id="17" name="Rectangle 17"/>
            <p:cNvSpPr/>
            <p:nvPr/>
          </p:nvSpPr>
          <p:spPr>
            <a:xfrm>
              <a:off x="8801100" y="1257300"/>
              <a:ext cx="2705100" cy="2476500"/>
            </a:xfrm>
            <a:prstGeom prst="roundRect">
              <a:avLst>
                <a:gd name="adj" fmla="val 6154"/>
              </a:avLst>
            </a:prstGeom>
            <a:solidFill>
              <a:schemeClr val="lt2"/>
            </a:solidFill>
            <a:ln>
              <a:noFill/>
            </a:ln>
          </p:spPr>
        </p:sp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991600" y="1754312"/>
              <a:ext cx="2324100" cy="1482476"/>
            </a:xfrm>
            <a:prstGeom prst="rect">
              <a:avLst/>
            </a:prstGeom>
          </p:spPr>
        </p:pic>
      </p:grpSp>
      <p:grpSp>
        <p:nvGrpSpPr>
          <p:cNvPr id="24" name="q30-answer"/>
          <p:cNvGrpSpPr/>
          <p:nvPr/>
        </p:nvGrpSpPr>
        <p:grpSpPr>
          <a:xfrm>
            <a:off x="685800" y="3086100"/>
            <a:ext cx="10820400" cy="3276600"/>
            <a:chOff x="685800" y="3086100"/>
            <a:chExt cx="10820400" cy="3276600"/>
          </a:xfrm>
        </p:grpSpPr>
        <p:sp>
          <p:nvSpPr>
            <p:cNvPr id="20" name="Rectangle 20"/>
            <p:cNvSpPr/>
            <p:nvPr/>
          </p:nvSpPr>
          <p:spPr>
            <a:xfrm>
              <a:off x="685800" y="3086100"/>
              <a:ext cx="10820400" cy="3276600"/>
            </a:xfrm>
            <a:prstGeom prst="roundRect">
              <a:avLst>
                <a:gd name="adj" fmla="val 465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685800" y="3086100"/>
              <a:ext cx="57150" cy="32766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70204" y="3166110"/>
              <a:ext cx="18226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参考答案 · 练习册答案库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68680" y="3419475"/>
              <a:ext cx="6181725" cy="26936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设 AE = x，</a:t>
              </a:r>
              <a:br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∵ 矩形 ABCD，∴ ∠A = ∠D = ∠B = ∠C = 90°，AB = CD，AD = BC。又∵ AE</a:t>
              </a:r>
              <a:br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= AH = CF = CG，</a:t>
              </a:r>
              <a:br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∴ △AEH ≌ △CGF，BE = DG，HD = BF，</a:t>
              </a:r>
              <a:br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∴ △BEF ≌ △DGH，</a:t>
              </a:r>
              <a:br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2×½x² - 2×½(a-x)(b-x) = ab - x² - (ab - ax - bx + x²) = -2x² +</a:t>
              </a:r>
              <a:br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(a+b)x。</a:t>
              </a:r>
              <a:br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∵ -2 &lt; 0，∴ 当 x = (a+b)/4 时，S四边形EFGH 有最大值。</a:t>
              </a:r>
              <a:br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3b，0 &lt; x ≤ a，(a+b)/4 在此范围内，</a:t>
              </a:r>
              <a:br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∴ 四边形 EFGH 的面积的最大值为 [-(a+b)²]/[4×(-2)] = (a+b)²/8。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0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minxue-weekend-apple">
  <a:themeElements>
    <a:clrScheme name="minxue-weekend-apple">
      <a:dk1>
        <a:srgbClr val="1D1D1F"/>
      </a:dk1>
      <a:lt1>
        <a:srgbClr val="FFFFFF"/>
      </a:lt1>
      <a:dk2>
        <a:srgbClr val="1F497D"/>
      </a:dk2>
      <a:lt2>
        <a:srgbClr val="F5F5F7"/>
      </a:lt2>
      <a:accent1>
        <a:srgbClr val="0071E3"/>
      </a:accent1>
      <a:accent2>
        <a:srgbClr val="E8590C"/>
      </a:accent2>
      <a:accent3>
        <a:srgbClr val="34C759"/>
      </a:accent3>
      <a:accent4>
        <a:srgbClr val="0071E3"/>
      </a:accent4>
      <a:accent5>
        <a:srgbClr val="AF52DE"/>
      </a:accent5>
      <a:accent6>
        <a:srgbClr val="86868B"/>
      </a:accent6>
      <a:hlink>
        <a:srgbClr val="E8590C"/>
      </a:hlink>
      <a:folHlink>
        <a:srgbClr val="34C759"/>
      </a:folHlink>
    </a:clrScheme>
    <a:fontScheme name="minxue-weekend-apple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inxue-weekend-appl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37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2026-09-17T07:51:56Z</dcterms:created>
  <dcterms:modified xsi:type="dcterms:W3CDTF">2026-09-17T07:51:56Z</dcterms:modified>
  <cp:category/>
  <cp:contentStatus/>
</cp:coreProperties>
</file>