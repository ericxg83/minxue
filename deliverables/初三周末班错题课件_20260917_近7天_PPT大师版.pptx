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 题 · 2026-09-16 · 难度 3 · 1 人错 · 填空题</a:t>
            </a:r>
          </a:p>
          <a:p>
            <a:pPr/>
            <a:r>
              <a:rPr lang="zh-CN" dirty="0"/>
              <a:t>· 张诗蕊 [概念不理解] 学生误认为高的比等于边长比，未掌握面积一定时高与底成反比的性质。</a:t>
            </a:r>
          </a:p>
          <a:p>
            <a:pPr/>
            <a:r>
              <a:rPr lang="zh-CN" dirty="0"/>
              <a:t>解析：设三角形面积为S，则S = (1/2)a·ha = (1/2)b·hb = (1/2)c·hc，因此a·ha = b·hb = c·hc，得ha : hb : hc = 1/a : 1/b : 1/c。代入a=2, b=4, c=3，得1/2 : 1/4 : 1/3。通分，最小公分母为12，化为6/12 : 3/12 : 4/12，即6:3:4。该比例已是最简整数比。所以，ha:hb:hc = 6:3:4。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原卷图：https://minxue-app-oss.oss-cn-shanghai.aliyuncs.com/images/bf235b85-e5d4-4f50-9e42-af8330df9451/20260915/6949a6cf-d2b3-4740-bcb2-3a34220ed601.jpg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 题 · 2026-09-15 · 难度 2 · 1 人错 · 解答题</a:t>
            </a:r>
          </a:p>
          <a:p>
            <a:pPr/>
            <a:r>
              <a:rPr lang="zh-CN" dirty="0"/>
              <a:t>母题：如图，抛物线 y=2(x-2)² 与平行于 x 轴的直线交于点 A、B，抛物线顶点为 C，△ABC 为等边三角形，求：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3 题 · 2026-09-15 · 难度 2 · 1 人错 · 解答题</a:t>
            </a:r>
          </a:p>
          <a:p>
            <a:pPr/>
            <a:r>
              <a:rPr lang="zh-CN" dirty="0"/>
              <a:t>母题：Ⅱ已知二次函数y=x²-2x-3.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原卷图：https://minxue-app-oss.oss-cn-shanghai.aliyuncs.com/images/23aabcd4-e3a5-47e5-9170-78d2122255b3/20260908/d882f798-a8b2-4581-a589-da24dde9207e.jpg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4 题 · 2026-09-15 · 难度 3 · 1 人错 · 解答题</a:t>
            </a:r>
          </a:p>
          <a:p>
            <a:pPr/>
            <a:r>
              <a:rPr lang="zh-CN" dirty="0"/>
              <a:t>母题：在平面直角坐标系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pPr/>
            <a:r>
              <a:rPr lang="zh-CN" dirty="0"/>
              <a:t>· 李哲瀚 [步骤遗漏] 学生仅设出D点坐标，未利用DF∥x轴求F点并代入直线方程求解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 题 · 2026-09-15 · 难度 3 · 1 人错 · 解答题</a:t>
            </a:r>
          </a:p>
          <a:p>
            <a:pPr/>
            <a:r>
              <a:rPr lang="zh-CN" dirty="0"/>
              <a:t>· 程思豪 [计算错误] 学生算出 -2，正确应为 -1，属计算环节失误</a:t>
            </a:r>
          </a:p>
          <a:p>
            <a:pPr/>
            <a:r>
              <a:rPr lang="zh-CN" dirty="0"/>
              <a:t>原卷图：https://minxue-app-oss.oss-cn-shanghai.aliyuncs.com/images/afae6ef7-d071-42c5-b229-faaef0e443f7/20260908/1d471c73-713f-40ed-9dc7-8bda8e54ed34.jpg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6 题 · 2026-09-15 · 难度 3 · 1 人错 · 解答题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原卷图：https://minxue-app-oss.oss-cn-shanghai.aliyuncs.com/images/0575f64d-3c9e-42d5-a5e4-7a461ccef385/20260908/6feffe8d-52ea-46a0-af58-30ec5b74051b.jpg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 题 · 2026-09-15 · 难度 4 · 1 人错 · 解答题</a:t>
            </a:r>
          </a:p>
          <a:p>
            <a:pPr/>
            <a:r>
              <a:rPr lang="zh-CN" dirty="0"/>
              <a:t>母题：11.已知二次函数 y=ax²+bx+c(a≠0)的图像过点 A(1,0),点 B(-3,0)和点 C.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原卷图：https://minxue-app-oss.oss-cn-shanghai.aliyuncs.com/images/23aabcd4-e3a5-47e5-9170-78d2122255b3/20260908/e192d1bb-0c94-4752-b8f6-32ff21a4b2e1.jpg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8 题 · 2026-09-15 · 难度 4 · 1 人错 · 解答题</a:t>
            </a:r>
          </a:p>
          <a:p>
            <a:pPr/>
            <a:r>
              <a:rPr lang="zh-CN" dirty="0"/>
              <a:t>母题：11.已知二次函数 y=ax²+bx+c(a≠0)的图像过点 A(1,0),点 B(-3,0)和点 C.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原卷图：https://minxue-app-oss.oss-cn-shanghai.aliyuncs.com/images/23aabcd4-e3a5-47e5-9170-78d2122255b3/20260908/e192d1bb-0c94-4752-b8f6-32ff21a4b2e1.jpg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 题 · 2026-09-15 · 难度 4 · 1 人错 · 解答题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 题 · 2026-09-15 · 难度 4 · 1 人错 · 解答题</a:t>
            </a:r>
          </a:p>
          <a:p>
            <a:pPr/>
            <a:r>
              <a:rPr lang="zh-CN" dirty="0"/>
              <a:t>· 张诗蕊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原卷图：https://minxue-app-oss.oss-cn-shanghai.aliyuncs.com/images/bf235b85-e5d4-4f50-9e42-af8330df9451/20260908/9238a85d-72f9-4575-8c7b-74b12788bab7.jpg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11 题 · 2026-09-13 · 难度 2 · 1 人错 · 选择题</a:t>
            </a:r>
          </a:p>
          <a:p>
            <a:pPr/>
            <a:r>
              <a:rPr lang="zh-CN" dirty="0"/>
              <a:t>· 程思豪 答：A [公式记忆错误] 未正确使用顶点式推导抛物线表达式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原卷图：https://minxue-app-oss.oss-cn-shanghai.aliyuncs.com/images/afae6ef7-d071-42c5-b229-faaef0e443f7/20260915/c4cd7d03-99f8-4339-895f-077c5b120d40.jpg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12 题 · 2026-09-13 · 难度 3 · 2 人错 · 选择题</a:t>
            </a:r>
          </a:p>
          <a:p>
            <a:pPr/>
            <a:r>
              <a:rPr lang="zh-CN" dirty="0"/>
              <a:t>· 程思豪 答：C [不会分析] 未根据图像特征判断函数表达式，缺乏图像与解析式对应关系的理解</a:t>
            </a:r>
          </a:p>
          <a:p>
            <a:pPr/>
            <a:r>
              <a:rPr lang="zh-CN" dirty="0"/>
              <a:t>· 张诗蕊 答：C [不会分析] 未根据图像特征判断函数表达式，缺乏图像与解析式对应关系的理解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原卷图：https://minxue-app-oss.oss-cn-shanghai.aliyuncs.com/images/afae6ef7-d071-42c5-b229-faaef0e443f7/20260915/48f62184-0a80-4291-85ee-522c89750b4b.jpg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13 题 · 2026-09-13 · 难度 3 · 1 人错 · 解答题</a:t>
            </a:r>
          </a:p>
          <a:p>
            <a:pPr/>
            <a:r>
              <a:rPr lang="zh-CN" dirty="0"/>
              <a:t>母题：某班数学兴趣小组对函数y=|x²-2x|的图像和性质进行了探究,探究过程如下,请补充完整.</a:t>
            </a:r>
          </a:p>
          <a:p>
            <a:pPr/>
            <a:r>
              <a:rPr lang="zh-CN" dirty="0"/>
              <a:t>· 丁嘉炜 未作答 [未作答]</a:t>
            </a:r>
          </a:p>
          <a:p>
            <a:pPr/>
            <a:r>
              <a:rPr lang="zh-CN" dirty="0"/>
              <a:t>原卷图：https://minxue-app-oss.oss-cn-shanghai.aliyuncs.com/images/451129ec-f9dd-44de-93a0-894901143eeb/20260913/f6dcbca3-8295-4334-bf39-98293b8a80ed.jpg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14 题 · 2026-09-13 · 难度 3 · 1 人错 · 填空题</a:t>
            </a:r>
          </a:p>
          <a:p>
            <a:pPr/>
            <a:r>
              <a:rPr lang="zh-CN" dirty="0"/>
              <a:t>· 张诗蕊 答：B [审题错误] 学生误将选择题选项当作答案，未求解抛物线表达式</a:t>
            </a:r>
          </a:p>
          <a:p>
            <a:pPr/>
            <a:r>
              <a:rPr lang="zh-CN" dirty="0"/>
              <a:t>解析：由比例中项的定义，得 b² = a·c。代入 a = 2，c = 3，得 b² = 6。因为线段长取正值，所以 b = √6。最终答案为 √6。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原卷图：https://minxue-app-oss.oss-cn-shanghai.aliyuncs.com/images/bf235b85-e5d4-4f50-9e42-af8330df9451/20260915/7c5ca670-5bd0-4be4-b134-f5b0738fa041.jpg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15 题 · 2026-09-13 · 难度 3 · 1 人错 · 解答题</a:t>
            </a:r>
          </a:p>
          <a:p>
            <a:pPr/>
            <a:r>
              <a:rPr lang="zh-CN" dirty="0"/>
              <a:t>· 张诗蕊 未作答 [未作答]</a:t>
            </a:r>
          </a:p>
          <a:p>
            <a:pPr/>
            <a:r>
              <a:rPr lang="zh-CN" dirty="0"/>
              <a:t>解析：黄金分割点把线段分成两部分，较长部分与全长之比等于 (√5-1)/2。因为 AB=3cm，且 AM 是较长线段，所以 AM = AB × (√5-1)/2 = 3×(√5-1)/2 = (3√5-3)/2 cm。较短线段 BM = AB - AM = 3 - (3√5-3)/2 = (6-3√5+3)/2 = (9-3√5)/2 cm。因此较长线段 AM 长 (3√5-3)/2 cm，较短线段 BM 长 (9-3√5)/2 cm。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原卷图：https://minxue-app-oss.oss-cn-shanghai.aliyuncs.com/images/bf235b85-e5d4-4f50-9e42-af8330df9451/20260915/6a1f2e6c-76f1-40bb-aef1-86c2de5d09e9.jpg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16 题 · 2026-09-13 · 难度 3 · 1 人错 · 解答题</a:t>
            </a:r>
          </a:p>
          <a:p>
            <a:pPr/>
            <a:r>
              <a:rPr lang="zh-CN" dirty="0"/>
              <a:t>母题：已知抛物线 y=ax²+2ax-1.</a:t>
            </a:r>
          </a:p>
          <a:p>
            <a:pPr/>
            <a:r>
              <a:rPr lang="zh-CN" dirty="0"/>
              <a:t>· 程思豪 [审题错误] 学生未理解题意，误将求m范围答成抛物线表达式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原卷图：https://minxue-app-oss.oss-cn-shanghai.aliyuncs.com/images/afae6ef7-d071-42c5-b229-faaef0e443f7/20260915/9daab327-3065-4611-813e-b261daaf55b2.jpg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17 题 · 2026-09-13 · 难度 3 · 1 人错 · 解答题</a:t>
            </a:r>
          </a:p>
          <a:p>
            <a:pPr/>
            <a:r>
              <a:rPr lang="zh-CN" dirty="0"/>
              <a:t>母题：如图，抛物线与x轴交于A、B两点，与y轴交于点C(0,3)，顶点坐标为(1,4)，点D(m,n)是抛物线上一点。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原卷图：https://minxue-app-oss.oss-cn-shanghai.aliyuncs.com/images/afae6ef7-d071-42c5-b229-faaef0e443f7/20260915/c6e10653-aa33-477d-b5b7-cc555f509b5e.jpg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18 题 · 2026-09-13 · 难度 4 · 1 人错 · 解答题</a:t>
            </a:r>
          </a:p>
          <a:p>
            <a:pPr/>
            <a:r>
              <a:rPr lang="zh-CN" dirty="0"/>
              <a:t>母题：4.如图,已知抛物线 y=ax²+bx+c 过原点O,格点A是该抛物线的顶点.</a:t>
            </a:r>
          </a:p>
          <a:p>
            <a:pPr/>
            <a:r>
              <a:rPr lang="zh-CN" dirty="0"/>
              <a:t>· 程思豪 答：y = ax² + bx + c 代入 c=0</a:t>
            </a:r>
          </a:p>
          <a:p>
            <a:pPr/>
            <a:r>
              <a:rPr lang="en-US" dirty="0"/>
              <a:t>0 = 4a - 2b + c</a:t>
            </a:r>
          </a:p>
          <a:p>
            <a:pPr/>
            <a:r>
              <a:rPr lang="en-US" dirty="0"/>
              <a:t>0 = c</a:t>
            </a:r>
          </a:p>
          <a:p>
            <a:pPr/>
            <a:r>
              <a:rPr lang="zh-CN" dirty="0"/>
              <a:t>3 = a - b + c [方法选择错误] 学生未利用对称性，错误代入三点求系数，偏离题意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原卷图：https://minxue-app-oss.oss-cn-shanghai.aliyuncs.com/images/afae6ef7-d071-42c5-b229-faaef0e443f7/20260915/b120f2d2-8615-46d5-8060-a05fe5f5ebbb.jpg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19 题 · 2026-09-13 · 难度 4 · 1 人错 · 解答题</a:t>
            </a:r>
          </a:p>
          <a:p>
            <a:pPr/>
            <a:r>
              <a:rPr lang="zh-CN" dirty="0"/>
              <a:t>· 程思豪 答：8 [审题错误] 学生未理解题目要求求抛物线表达式，误填数值8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原卷图：https://minxue-app-oss.oss-cn-shanghai.aliyuncs.com/images/afae6ef7-d071-42c5-b229-faaef0e443f7/20260915/51454921-ddef-4c2f-b3ea-868bff45642e.jpg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20 题 · 2026-09-13 · 难度未判定 · 1 人错 ·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原卷图：https://minxue-app-oss.oss-cn-shanghai.aliyuncs.com/images/afae6ef7-d071-42c5-b229-faaef0e443f7/20260913/2fcd8619-6736-4c4b-b01b-bcf37594e08b.jpg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21 题 · 2026-09-13 · 难度未判定 · 1 人错 ·</a:t>
            </a:r>
          </a:p>
          <a:p>
            <a:pPr/>
            <a:r>
              <a:rPr lang="zh-CN" dirty="0"/>
              <a:t>· 程思豪 答：C [审题错误] 学生误将选项C当作正确答案，未正确理解题目要求求抛物线表达式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原卷图：https://minxue-app-oss.oss-cn-shanghai.aliyuncs.com/images/afae6ef7-d071-42c5-b229-faaef0e443f7/20260913/8e7514f3-5a6c-4a8c-8594-e7a3d58345ba.jpg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22 题 · 2026-09-13 · 难度未判定 · 1 人错 · 解答题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原卷图：https://minxue-app-oss.oss-cn-shanghai.aliyuncs.com/images/afae6ef7-d071-42c5-b229-faaef0e443f7/20260915/d1d41064-68b7-4758-a288-d41717a5ee43.jpg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23 题 · 2026-09-12 · 难度未判定 · 1 人错 ·</a:t>
            </a:r>
          </a:p>
          <a:p>
            <a:pPr/>
            <a:r>
              <a:rPr lang="zh-CN" dirty="0"/>
              <a:t>· 张诗蕊 答：y=-(x-2)²+1 [计算错误] 学生算出 -2，正确应为 82，属计算环节失误</a:t>
            </a:r>
          </a:p>
          <a:p>
            <a:pPr/>
            <a:r>
              <a:rPr lang="zh-CN" dirty="0"/>
              <a:t>原卷图：https://minxue-app-oss.oss-cn-shanghai.aliyuncs.com/images/bf235b85-e5d4-4f50-9e42-af8330df9451/20260913/a339295f-0943-4ad4-8dc5-f8a47a9b81d8.jpg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24 题 · 2026-09-12 · 难度未判定 · 1 人错 · 解答题</a:t>
            </a:r>
          </a:p>
          <a:p>
            <a:pPr/>
            <a:r>
              <a:rPr lang="zh-CN" dirty="0"/>
              <a:t>· 张诗蕊 答：m&lt;2或m&gt;4 [概念不理解] 未理解抛物线对称性与函数值大小关系</a:t>
            </a:r>
          </a:p>
          <a:p>
            <a:pPr/>
            <a:r>
              <a:rPr lang="zh-CN" dirty="0"/>
              <a:t>解析：设窗口底边离地面的高度 BC = h m，则窗口顶边离地面的高度 AC = AB + BC = 1.8 + h（m）。太阳光线为平行光，故光线与水平面夹角相等，有 AC / CD = BC / CE。由题意，亮区宽 DE = 2.7 m，CE = 8.7 m，且点 E 为窗口下沿光线落点（近点），点 D 为上沿光线落点（远点），则 CD = CE + DE = 8.7 + 2.7 = 11.4 m。代入比例式得 (1.8 + h) / 11.4 = h / 8.7，交叉相乘：8.7(1.8 + h) = 11.4h，即 15.66 + 8.7h = 11.4h，移项得 15.66 = 2.7h，解得 h = 15.66 ÷ 2.7 = 5.8。因此窗口底边离地面的高度为 5.8 m。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原卷图：https://minxue-app-oss.oss-cn-shanghai.aliyuncs.com/images/bf235b85-e5d4-4f50-9e42-af8330df9451/20260915/a18a76bf-fec8-4ff8-834c-4ccb65a5c52c.jpg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25 题 · 2026-09-11 · 难度 3 · 1 人错 · 选择题</a:t>
            </a:r>
          </a:p>
          <a:p>
            <a:pPr/>
            <a:r>
              <a:rPr lang="zh-CN" dirty="0"/>
              <a:t>· 丁嘉炜 [计算错误] 解方程20t-5t²=0时算错根，导致选错时间</a:t>
            </a:r>
          </a:p>
          <a:p>
            <a:pPr/>
            <a:r>
              <a:rPr lang="zh-CN" dirty="0"/>
              <a:t>原卷图：https://minxue-app-oss.oss-cn-shanghai.aliyuncs.com/images/451129ec-f9dd-44de-93a0-894901143eeb/20260910/9a353140-a5f7-420b-befe-4ba0a01a40d3.jpg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26 题 · 2026-09-11 · 难度 3 · 1 人错 · 解答题</a:t>
            </a:r>
          </a:p>
          <a:p>
            <a:pPr/>
            <a:r>
              <a:rPr lang="zh-CN" dirty="0"/>
              <a:t>母题：已知抛物线 y=ax²+1(a≠0)与直线 y=-3x+3 交于点(-1,b).</a:t>
            </a:r>
          </a:p>
          <a:p>
            <a:pPr/>
            <a:r>
              <a:rPr lang="zh-CN" dirty="0"/>
              <a:t>· 李哲瀚 [方法选择错误] 学生误将直线与抛物线交点问题当作顶点性质题解答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原卷图：https://minxue-app-oss.oss-cn-shanghai.aliyuncs.com/images/0575f64d-3c9e-42d5-a5e4-7a461ccef385/20260908/76e318d1-bb1b-494b-9eb9-7a47ab0fe556.jpg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27 题 · 2026-09-11 · 难度 3 · 1 人错 · 解答题</a:t>
            </a:r>
          </a:p>
          <a:p>
            <a:pPr/>
            <a:r>
              <a:rPr lang="zh-CN" dirty="0"/>
              <a:t>· 丁嘉炜 [计算错误] 学生算出 9，正确应为 6，属计算环节失误</a:t>
            </a:r>
          </a:p>
          <a:p>
            <a:pPr/>
            <a:r>
              <a:rPr lang="zh-CN" dirty="0"/>
              <a:t>原卷图：https://minxue-app-oss.oss-cn-shanghai.aliyuncs.com/images/451129ec-f9dd-44de-93a0-894901143eeb/20260910/9a353140-a5f7-420b-befe-4ba0a01a40d3.jpg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28 题 · 2026-09-11 · 难度 3 · 1 人错 · 选择题</a:t>
            </a:r>
          </a:p>
          <a:p>
            <a:pPr/>
            <a:r>
              <a:rPr lang="zh-CN" dirty="0"/>
              <a:t>· 李哲瀚 [审题错误] 未仔细阅读选项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原卷图：https://minxue-app-oss.oss-cn-shanghai.aliyuncs.com/images/0575f64d-3c9e-42d5-a5e4-7a461ccef385/20260908/dfec9794-94d7-4f2d-bd75-e2f5ab8ecaa0.jpg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 题 · 2026-09-11 · 难度 3 · 1 人错 · 解答题</a:t>
            </a:r>
          </a:p>
          <a:p>
            <a:pPr/>
            <a:r>
              <a:rPr lang="zh-CN" dirty="0"/>
              <a:t>母题：已知抛物线 y=ax²+n(an&gt;0)与抛物线 y=-2x² 的形状相同，且其图像上与 x 轴最近的点到 x 轴的距离为 3.</a:t>
            </a:r>
          </a:p>
          <a:p>
            <a:pPr/>
            <a:r>
              <a:rPr lang="zh-CN" dirty="0"/>
              <a:t>· 李哲瀚 [单位错误] 结果数字正确但漏写了单位（当 a=2，n=3 时，抛物线 y=2x²+3 开口向上，对称轴为 y 轴，顶点坐标为 (0,3)；当 a=-2，n=-3 时，抛物线 y=-2x²-3 开口向下，对称轴为 y 轴，顶点坐标为 (0,-3)。）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原卷图：https://minxue-app-oss.oss-cn-shanghai.aliyuncs.com/images/0575f64d-3c9e-42d5-a5e4-7a461ccef385/20260908/76e318d1-bb1b-494b-9eb9-7a47ab0fe556.jpg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xue-weekend-wrong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xue-weekend-wrong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6c2a3ef3d520b2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1e72bdc80952344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ab690bf43782d9d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9f6f678469e7f74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f60ad9ae3c7526.jp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cbcb2bfc57be7b.jp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a4194c0e9340a62.jp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7c9016f64718f6c.jp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a18426e71486f2.png"/>
  <Relationship Id="rId3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1c310de0a30e95.jp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6bef4eb5e0ff1bc.jp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2E5C8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title"/>
          <p:cNvGrpSpPr/>
          <p:nvPr/>
        </p:nvGrpSpPr>
        <p:grpSpPr>
          <a:xfrm>
            <a:off x="781050" y="1062990"/>
            <a:ext cx="6752463" cy="1552194"/>
            <a:chOff x="781050" y="1062990"/>
            <a:chExt cx="6752463" cy="1552194"/>
          </a:xfrm>
        </p:grpSpPr>
        <p:sp>
          <p:nvSpPr>
            <p:cNvPr id="2" name="TextBox 2"/>
            <p:cNvSpPr txBox="1"/>
            <p:nvPr/>
          </p:nvSpPr>
          <p:spPr>
            <a:xfrm>
              <a:off x="790956" y="1062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周末错题讲评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81050" y="1476375"/>
              <a:ext cx="568103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初三 周末班错题课件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0956" y="2263140"/>
              <a:ext cx="6742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日期倒序 · 每天内部由易到难 ｜ 放映时单击一下浮现参考答案</a:t>
              </a:r>
            </a:p>
          </p:txBody>
        </p:sp>
      </p:grpSp>
      <p:grpSp>
        <p:nvGrpSpPr>
          <p:cNvPr id="18" name="cover-stats"/>
          <p:cNvGrpSpPr/>
          <p:nvPr/>
        </p:nvGrpSpPr>
        <p:grpSpPr>
          <a:xfrm>
            <a:off x="800100" y="3619500"/>
            <a:ext cx="10439400" cy="1257300"/>
            <a:chOff x="800100" y="3619500"/>
            <a:chExt cx="10439400" cy="1257300"/>
          </a:xfrm>
        </p:grpSpPr>
        <p:sp>
          <p:nvSpPr>
            <p:cNvPr id="6" name="Rectangle 6"/>
            <p:cNvSpPr/>
            <p:nvPr/>
          </p:nvSpPr>
          <p:spPr>
            <a:xfrm>
              <a:off x="800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0036" y="385381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942" y="4426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67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17036" y="38538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6942" y="4426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有课日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134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4036" y="38538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3942" y="4426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01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1036" y="385381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0942" y="4426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错题条数</a:t>
              </a:r>
            </a:p>
          </p:txBody>
        </p:sp>
      </p:grpSp>
      <p:grpSp>
        <p:nvGrpSpPr>
          <p:cNvPr id="21" name="cover-meta"/>
          <p:cNvGrpSpPr/>
          <p:nvPr/>
        </p:nvGrpSpPr>
        <p:grpSpPr>
          <a:xfrm>
            <a:off x="793242" y="5283518"/>
            <a:ext cx="3884714" cy="587883"/>
            <a:chOff x="793242" y="5283518"/>
            <a:chExt cx="3884714" cy="587883"/>
          </a:xfrm>
        </p:grpSpPr>
        <p:sp>
          <p:nvSpPr>
            <p:cNvPr id="19" name="TextBox 19"/>
            <p:cNvSpPr txBox="1"/>
            <p:nvPr/>
          </p:nvSpPr>
          <p:spPr>
            <a:xfrm>
              <a:off x="793242" y="52835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时段 2026-09-11 ~ 2026-09-18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560736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学生 张诗蕊、李哲瀚、陈施君、程思豪、丁嘉炜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accent"/>
          <p:cNvSpPr/>
          <p:nvPr/>
        </p:nvSpPr>
        <p:spPr>
          <a:xfrm>
            <a:off x="419100" y="381000"/>
            <a:ext cx="57150" cy="419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5" name="toc-title"/>
          <p:cNvGrpSpPr/>
          <p:nvPr/>
        </p:nvGrpSpPr>
        <p:grpSpPr>
          <a:xfrm>
            <a:off x="630936" y="367665"/>
            <a:ext cx="4475988" cy="645414"/>
            <a:chOff x="630936" y="367665"/>
            <a:chExt cx="4475988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30936" y="3676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本份课件目录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77056" y="510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按日期倒序</a:t>
              </a:r>
            </a:p>
          </p:txBody>
        </p:sp>
      </p:grpSp>
      <p:grpSp>
        <p:nvGrpSpPr>
          <p:cNvPr id="54" name="toc-table"/>
          <p:cNvGrpSpPr/>
          <p:nvPr/>
        </p:nvGrpSpPr>
        <p:grpSpPr>
          <a:xfrm>
            <a:off x="409956" y="1454468"/>
            <a:ext cx="11372088" cy="3012757"/>
            <a:chOff x="409956" y="1454468"/>
            <a:chExt cx="11372088" cy="3012757"/>
          </a:xfrm>
        </p:grpSpPr>
        <p:sp>
          <p:nvSpPr>
            <p:cNvPr id="6" name="TextBox 6"/>
            <p:cNvSpPr txBox="1"/>
            <p:nvPr/>
          </p:nvSpPr>
          <p:spPr>
            <a:xfrm>
              <a:off x="412242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636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题数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971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01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26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041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较难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20831" y="1454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未判定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9100" y="17716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9956" y="18440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15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250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80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5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833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04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" y="23241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9956" y="23774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915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250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680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05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6833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304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9100" y="28575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9956" y="29108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8308" y="29108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50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680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205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6833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6304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9100" y="33909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9956" y="34442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915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50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80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05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833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6304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9100" y="39243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9956" y="39776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915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50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680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05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6833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6304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19100" y="44577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01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题 · 中等 1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2026-09-16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04-stem"/>
          <p:cNvGrpSpPr/>
          <p:nvPr/>
        </p:nvGrpSpPr>
        <p:grpSpPr>
          <a:xfrm>
            <a:off x="406908" y="1226820"/>
            <a:ext cx="10311384" cy="926592"/>
            <a:chOff x="406908" y="1226820"/>
            <a:chExt cx="1031138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3113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已知在△ABC中，三边长a=2,b=4,c=3,ha、hb、hc分别为边a、b、c上的高，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那么ha:hb:hc=____.</a:t>
              </a:r>
            </a:p>
          </p:txBody>
        </p:sp>
      </p:grpSp>
      <p:grpSp>
        <p:nvGrpSpPr>
          <p:cNvPr id="19" name="q04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6:3:4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4852645" cy="2846261"/>
            <a:chOff x="790956" y="1062990"/>
            <a:chExt cx="4852645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02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45859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9 题 · 基础 2 · 中等 3 · 较难 4 · 4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错的学生：陈施君、程思豪、李哲瀚、张诗蕊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6-stem"/>
          <p:cNvGrpSpPr/>
          <p:nvPr/>
        </p:nvGrpSpPr>
        <p:grpSpPr>
          <a:xfrm>
            <a:off x="406908" y="1226820"/>
            <a:ext cx="7339584" cy="1498092"/>
            <a:chOff x="406908" y="1226820"/>
            <a:chExt cx="733958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3395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如图，抛物线 y=2(x-2)² 与平行于 x 轴的直线交于点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A、B，抛物线顶点为 C，△ABC 为等边三角形，求：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22152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(2)点B的坐标;</a:t>
              </a:r>
            </a:p>
          </p:txBody>
        </p:sp>
      </p:grpSp>
      <p:grpSp>
        <p:nvGrpSpPr>
          <p:cNvPr id="17" name="q06-figure"/>
          <p:cNvGrpSpPr/>
          <p:nvPr/>
        </p:nvGrpSpPr>
        <p:grpSpPr>
          <a:xfrm>
            <a:off x="9725025" y="1146715"/>
            <a:ext cx="1419225" cy="2526220"/>
            <a:chOff x="9725025" y="1146715"/>
            <a:chExt cx="1419225" cy="252622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25025" y="1146715"/>
              <a:ext cx="1419225" cy="2526220"/>
            </a:xfrm>
            <a:prstGeom prst="rect">
              <a:avLst/>
            </a:prstGeom>
          </p:spPr>
        </p:pic>
      </p:grpSp>
      <p:grpSp>
        <p:nvGrpSpPr>
          <p:cNvPr id="22" name="q06-answer"/>
          <p:cNvGrpSpPr/>
          <p:nvPr/>
        </p:nvGrpSpPr>
        <p:grpSpPr>
          <a:xfrm>
            <a:off x="419100" y="4171950"/>
            <a:ext cx="11353800" cy="2362200"/>
            <a:chOff x="419100" y="4171950"/>
            <a:chExt cx="11353800" cy="2362200"/>
          </a:xfrm>
        </p:grpSpPr>
        <p:sp>
          <p:nvSpPr>
            <p:cNvPr id="18" name="Rectangle 18"/>
            <p:cNvSpPr/>
            <p:nvPr/>
          </p:nvSpPr>
          <p:spPr>
            <a:xfrm>
              <a:off x="419100" y="4171950"/>
              <a:ext cx="11353800" cy="2362200"/>
            </a:xfrm>
            <a:prstGeom prst="roundRect">
              <a:avLst>
                <a:gd name="adj" fmla="val 4839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417195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4311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4503420"/>
              <a:ext cx="983894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如图，过点 C 作 CD⊥AB，垂足为 D。设 AD 为 a(a&gt;0)。∵△ABC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为等边三角形，CD⊥AB，∴AD=DB=a，∠ACD=30°，∴CD=√3a。∴点 B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的坐标为 (2+a, √3a)，∴√3a=2(2+a-2)²，∴a=√3/2，∴B((4+√3)/2,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3/2)。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7-stem"/>
          <p:cNvGrpSpPr/>
          <p:nvPr/>
        </p:nvGrpSpPr>
        <p:grpSpPr>
          <a:xfrm>
            <a:off x="406908" y="1226820"/>
            <a:ext cx="7826959" cy="1040892"/>
            <a:chOff x="406908" y="1226820"/>
            <a:chExt cx="7826959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39276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Ⅱ已知二次函数y=x²-2x-3.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(3)结合函数图像,直接写出当-4≤y≤0时,x的取值范围.</a:t>
              </a:r>
            </a:p>
          </p:txBody>
        </p:sp>
      </p:grpSp>
      <p:grpSp>
        <p:nvGrpSpPr>
          <p:cNvPr id="20" name="q07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34821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解：(1)当 y=0 时，x²-2x-3=0，解得 x₁=-1，x₂=3，∴抛物线与 x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轴的交点坐标为 (-1,0)、(3,0)。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8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8-stem"/>
          <p:cNvGrpSpPr/>
          <p:nvPr/>
        </p:nvGrpSpPr>
        <p:grpSpPr>
          <a:xfrm>
            <a:off x="406908" y="1226820"/>
            <a:ext cx="9564624" cy="2412492"/>
            <a:chOff x="406908" y="1226820"/>
            <a:chExt cx="9564624" cy="24124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56462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在平面直角坐标系 xOy 中，将直线 l: y=-3/4x-3 沿 x 轴翻折，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得到一条新直线与 x 轴交于点 A，与 y 轴交于点 B，将抛物线 C₁: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y=1/3x² 沿 x 轴平移，得到一条新抛物线 C₂ 与 y 轴交于点 D，与直线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 交于点 E、F，连接 DF，满足 DF//x 轴. 求：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3169920"/>
              <a:ext cx="33723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(2)抛物线C₂的表达式.</a:t>
              </a:r>
            </a:p>
          </p:txBody>
        </p:sp>
      </p:grpSp>
      <p:grpSp>
        <p:nvGrpSpPr>
          <p:cNvPr id="20" name="q08-answer"/>
          <p:cNvGrpSpPr/>
          <p:nvPr/>
        </p:nvGrpSpPr>
        <p:grpSpPr>
          <a:xfrm>
            <a:off x="419100" y="4171950"/>
            <a:ext cx="11353800" cy="2362200"/>
            <a:chOff x="419100" y="4171950"/>
            <a:chExt cx="11353800" cy="2362200"/>
          </a:xfrm>
        </p:grpSpPr>
        <p:sp>
          <p:nvSpPr>
            <p:cNvPr id="16" name="Rectangle 16"/>
            <p:cNvSpPr/>
            <p:nvPr/>
          </p:nvSpPr>
          <p:spPr>
            <a:xfrm>
              <a:off x="419100" y="4171950"/>
              <a:ext cx="11353800" cy="2362200"/>
            </a:xfrm>
            <a:prstGeom prst="roundRect">
              <a:avLst>
                <a:gd name="adj" fmla="val 4839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17195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3119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503420"/>
              <a:ext cx="998372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设平移后抛物线 C₂ 的顶点为 P(n,0)，则抛物线 C₂ 的表达式为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y=1/3(x-n)²，∴D(0, 1/3n²)。∵DF//x 轴，∴点 F(2n, 1/3n²)。又点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F 在直线 AB 上，∴1/3n²=3/4×2n+3，解得 n₁=6, n₂=-3/2。∴抛物线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C₂ 的表达式为 y=1/3(x-6)² 或 y=1/3(x+3/2)²。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09-stem"/>
          <p:cNvGrpSpPr/>
          <p:nvPr/>
        </p:nvGrpSpPr>
        <p:grpSpPr>
          <a:xfrm>
            <a:off x="406908" y="1226820"/>
            <a:ext cx="6409944" cy="926592"/>
            <a:chOff x="406908" y="1226820"/>
            <a:chExt cx="640994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409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3.如图,已知关于x的二次函数 y=-1/2x²+bx+c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的图像如图所示,则这个二次函数的表达式为</a:t>
              </a:r>
            </a:p>
          </p:txBody>
        </p:sp>
      </p:grpSp>
      <p:grpSp>
        <p:nvGrpSpPr>
          <p:cNvPr id="16" name="q09-figure"/>
          <p:cNvGrpSpPr/>
          <p:nvPr/>
        </p:nvGrpSpPr>
        <p:grpSpPr>
          <a:xfrm>
            <a:off x="8305800" y="1695450"/>
            <a:ext cx="3429000" cy="2790825"/>
            <a:chOff x="8305800" y="1695450"/>
            <a:chExt cx="3429000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5800" y="1695450"/>
              <a:ext cx="3429000" cy="2790825"/>
            </a:xfrm>
            <a:prstGeom prst="rect">
              <a:avLst/>
            </a:prstGeom>
          </p:spPr>
        </p:pic>
      </p:grpSp>
      <p:grpSp>
        <p:nvGrpSpPr>
          <p:cNvPr id="21" name="q0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2823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y=-1/2x²+2x+5/2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0-stem"/>
          <p:cNvGrpSpPr/>
          <p:nvPr/>
        </p:nvGrpSpPr>
        <p:grpSpPr>
          <a:xfrm>
            <a:off x="406908" y="1226820"/>
            <a:ext cx="6379464" cy="1383792"/>
            <a:chOff x="406908" y="1226820"/>
            <a:chExt cx="637946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3794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如图, 已知抛物线 y=(x-2)² 的顶点为 C, 直线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y=2x+4 与抛物线交于 A、B 两点, 求 △ABC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的面积.</a:t>
              </a:r>
            </a:p>
          </p:txBody>
        </p:sp>
      </p:grpSp>
      <p:grpSp>
        <p:nvGrpSpPr>
          <p:cNvPr id="16" name="q10-figure"/>
          <p:cNvGrpSpPr/>
          <p:nvPr/>
        </p:nvGrpSpPr>
        <p:grpSpPr>
          <a:xfrm>
            <a:off x="8391525" y="1181100"/>
            <a:ext cx="3343275" cy="2790825"/>
            <a:chOff x="8391525" y="1181100"/>
            <a:chExt cx="3343275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1525" y="1181100"/>
              <a:ext cx="3343275" cy="2790825"/>
            </a:xfrm>
            <a:prstGeom prst="rect">
              <a:avLst/>
            </a:prstGeom>
          </p:spPr>
        </p:pic>
      </p:grpSp>
      <p:grpSp>
        <p:nvGrpSpPr>
          <p:cNvPr id="21" name="q10-answer"/>
          <p:cNvGrpSpPr/>
          <p:nvPr/>
        </p:nvGrpSpPr>
        <p:grpSpPr>
          <a:xfrm>
            <a:off x="419100" y="4514850"/>
            <a:ext cx="11353800" cy="2019300"/>
            <a:chOff x="419100" y="4514850"/>
            <a:chExt cx="11353800" cy="2019300"/>
          </a:xfrm>
        </p:grpSpPr>
        <p:sp>
          <p:nvSpPr>
            <p:cNvPr id="17" name="Rectangle 17"/>
            <p:cNvSpPr/>
            <p:nvPr/>
          </p:nvSpPr>
          <p:spPr>
            <a:xfrm>
              <a:off x="419100" y="4514850"/>
              <a:ext cx="11353800" cy="2019300"/>
            </a:xfrm>
            <a:prstGeom prst="roundRect">
              <a:avLst>
                <a:gd name="adj" fmla="val 566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5148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6548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794" y="4894898"/>
              <a:ext cx="9671352" cy="1495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解：易知抛物线 y=(x-2)² 的顶点 C 的坐标为 (2,0)。联立两函数的表达式，得 </a:t>
              </a:r>
              <a:br/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y=2x+4, y=(x-2)²，解得 x₁=0, y₁=4, x₂=6, y₂=16。∴A(6,16), B(0,4)。过点 A </a:t>
              </a:r>
              <a:br/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作 AD⊥x 轴，垂足为 D，则 S△ABC = S梯形ABOD - S△AOC - S△ACD = 1/2(OB+AD)</a:t>
              </a:r>
            </a:p>
            <a:p>
              <a:pPr algn="l" marL="221028" indent="-221028">
                <a:lnSpc>
                  <a:spcPts val="2925"/>
                </a:lnSpc>
                <a:buClr>
                  <a:srgbClr val="2F5B14"/>
                </a:buClr>
                <a:buSzTx/>
                <a:buFontTx/>
                <a:buChar char="•"/>
              </a:pPr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OD - 1/2OC·OB - 1/2CD·AD = 1/2×(4+16)×6 - 1/2×2×4 - 1/2×4×16 = 24。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1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1-stem"/>
          <p:cNvGrpSpPr/>
          <p:nvPr/>
        </p:nvGrpSpPr>
        <p:grpSpPr>
          <a:xfrm>
            <a:off x="406908" y="1226820"/>
            <a:ext cx="10021824" cy="1498092"/>
            <a:chOff x="406908" y="1226820"/>
            <a:chExt cx="1002182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021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11.已知二次函数 y=ax²+bx+c(a≠0)的图像过点 A(1,0),点 B(-3,0)和点 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65022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(3)若 z=-ax-3a 且 a&lt;0,求证: y-z+9/4a≤0.</a:t>
              </a:r>
            </a:p>
          </p:txBody>
        </p:sp>
      </p:grpSp>
      <p:grpSp>
        <p:nvGrpSpPr>
          <p:cNvPr id="20" name="q11-answer"/>
          <p:cNvGrpSpPr/>
          <p:nvPr/>
        </p:nvGrpSpPr>
        <p:grpSpPr>
          <a:xfrm>
            <a:off x="419100" y="4629150"/>
            <a:ext cx="11353800" cy="1905000"/>
            <a:chOff x="419100" y="4629150"/>
            <a:chExt cx="113538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19100" y="4629150"/>
              <a:ext cx="11353800" cy="1905000"/>
            </a:xfrm>
            <a:prstGeom prst="roundRect">
              <a:avLst>
                <a:gd name="adj" fmla="val 600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6291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7691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960620"/>
              <a:ext cx="9847326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(1)解：设二次函数的表达式为 y=a(x-1)(x+3)，把 C(0,-3)代入，得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-3=a×(0-1)×(0+3)，解得 a=1，∴二次函数的表达式为 y=(x-1)(x+3)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，即 y=x²+2x-3。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2-stem"/>
          <p:cNvGrpSpPr/>
          <p:nvPr/>
        </p:nvGrpSpPr>
        <p:grpSpPr>
          <a:xfrm>
            <a:off x="406908" y="1226820"/>
            <a:ext cx="10021824" cy="1955292"/>
            <a:chOff x="406908" y="1226820"/>
            <a:chExt cx="10021824" cy="19552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021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11.已知二次函数 y=ax²+bx+c(a≠0)的图像过点 A(1,0),点 B(-3,0)和点 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94884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(2)当 -3≤x≤0 时,二次函数的最大值为 m,最小值为 n,若 m-n=8,求 a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的值;</a:t>
              </a:r>
            </a:p>
          </p:txBody>
        </p:sp>
      </p:grpSp>
      <p:grpSp>
        <p:nvGrpSpPr>
          <p:cNvPr id="20" name="q12-answer"/>
          <p:cNvGrpSpPr/>
          <p:nvPr/>
        </p:nvGrpSpPr>
        <p:grpSpPr>
          <a:xfrm>
            <a:off x="419100" y="4629150"/>
            <a:ext cx="11353800" cy="1905000"/>
            <a:chOff x="419100" y="4629150"/>
            <a:chExt cx="113538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19100" y="4629150"/>
              <a:ext cx="11353800" cy="1905000"/>
            </a:xfrm>
            <a:prstGeom prst="roundRect">
              <a:avLst>
                <a:gd name="adj" fmla="val 600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6291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7691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960620"/>
              <a:ext cx="9847326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(1)解：设二次函数的表达式为 y=a(x-1)(x+3)，把 C(0,-3)代入，得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-3=a×(0-1)×(0+3)，解得 a=1，∴二次函数的表达式为 y=(x-1)(x+3)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，即 y=x²+2x-3。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3-stem"/>
          <p:cNvGrpSpPr/>
          <p:nvPr/>
        </p:nvGrpSpPr>
        <p:grpSpPr>
          <a:xfrm>
            <a:off x="406908" y="1226820"/>
            <a:ext cx="10661904" cy="1383792"/>
            <a:chOff x="406908" y="1226820"/>
            <a:chExt cx="1066190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66190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已知直线x=c交抛物线y₁=-(x-a)²于点A(c,m),交抛物线y₂=-(x-b)²于点B(c,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n),下列结论:①若a&gt;b&gt;c,则m&lt;n;②若b&gt;a&gt;c,则m&lt;n;③若c&gt;b&gt;a,则m&lt;n;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④若a&gt;c&gt;b,则m&lt;n.其中正确的结论有</a:t>
              </a:r>
            </a:p>
          </p:txBody>
        </p:sp>
      </p:grpSp>
      <p:grpSp>
        <p:nvGrpSpPr>
          <p:cNvPr id="19" name="q13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5" name="Rectangle 15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417820"/>
              <a:ext cx="940612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 解析：∵抛物线 y₁=-(x-a)² 经过点 A(c,m)，∴m=-(c-a)²，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同理可得 n=-(c-b)²，∴m-n=-(c-a)²+(c-b)²=(a-b)(2c-a-b)。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4-stem"/>
          <p:cNvGrpSpPr/>
          <p:nvPr/>
        </p:nvGrpSpPr>
        <p:grpSpPr>
          <a:xfrm>
            <a:off x="406908" y="1226820"/>
            <a:ext cx="6882384" cy="1840992"/>
            <a:chOff x="406908" y="1226820"/>
            <a:chExt cx="68823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8823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点B在y轴上，且AD//BC//x轴，过B、C、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D三点的抛物线的顶点坐标为(2,2)，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则抛物线的表达式是y=______.</a:t>
              </a:r>
            </a:p>
          </p:txBody>
        </p:sp>
      </p:grpSp>
      <p:grpSp>
        <p:nvGrpSpPr>
          <p:cNvPr id="16" name="q14-figure"/>
          <p:cNvGrpSpPr/>
          <p:nvPr/>
        </p:nvGrpSpPr>
        <p:grpSpPr>
          <a:xfrm>
            <a:off x="9067800" y="1143000"/>
            <a:ext cx="2600325" cy="2647950"/>
            <a:chOff x="9067800" y="1143000"/>
            <a:chExt cx="2600325" cy="26479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7800" y="1143000"/>
              <a:ext cx="2600325" cy="2647950"/>
            </a:xfrm>
            <a:prstGeom prst="rect">
              <a:avLst/>
            </a:prstGeom>
          </p:spPr>
        </p:pic>
      </p:grpSp>
      <p:grpSp>
        <p:nvGrpSpPr>
          <p:cNvPr id="21" name="q14-answer"/>
          <p:cNvGrpSpPr/>
          <p:nvPr/>
        </p:nvGrpSpPr>
        <p:grpSpPr>
          <a:xfrm>
            <a:off x="419100" y="4286250"/>
            <a:ext cx="11353800" cy="2247900"/>
            <a:chOff x="419100" y="4286250"/>
            <a:chExt cx="113538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419100" y="4286250"/>
              <a:ext cx="11353800" cy="2247900"/>
            </a:xfrm>
            <a:prstGeom prst="roundRect">
              <a:avLst>
                <a:gd name="adj" fmla="val 508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2862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4262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270" y="4633912"/>
              <a:ext cx="10028396" cy="1725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AD//BC//x轴，∴BC=4。∵四边形ABCD是平行四边形，∴AD=BC=4。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∵点A的坐标为(2,6)，∴D(6,6)。设抛物线为y=a(x-2)²+2，代入点D的坐标，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得6=16a+2，解得a=1/4，∴抛物线的表达式为y=1/4(x-2)²+2。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6197498" cy="2846261"/>
            <a:chOff x="790956" y="1062990"/>
            <a:chExt cx="6197498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03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12 题 · 基础 1 · 中等 6 · 较难 2 · 未判定 3 · 3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错的学生：程思豪、丁嘉炜、张诗蕊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16-stem"/>
          <p:cNvGrpSpPr/>
          <p:nvPr/>
        </p:nvGrpSpPr>
        <p:grpSpPr>
          <a:xfrm>
            <a:off x="406908" y="1226820"/>
            <a:ext cx="9686544" cy="2477833"/>
            <a:chOff x="406908" y="1226820"/>
            <a:chExt cx="9686544" cy="24778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6865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1.抛物线的形状、开口方向与 y=1/2x²-4x+3 相同,顶点坐标为(-2,1),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则表达式为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2208848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y=½(x-2)²+1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580322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y=½(x+2)²-1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951798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y=½(x+2)²+1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3323272"/>
              <a:ext cx="21595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y=-½(x+2)²+1</a:t>
              </a:r>
            </a:p>
          </p:txBody>
        </p:sp>
      </p:grpSp>
      <p:grpSp>
        <p:nvGrpSpPr>
          <p:cNvPr id="23" name="q16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9" name="Rectangle 19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17-stem"/>
          <p:cNvGrpSpPr/>
          <p:nvPr/>
        </p:nvGrpSpPr>
        <p:grpSpPr>
          <a:xfrm>
            <a:off x="406908" y="1226820"/>
            <a:ext cx="6049975" cy="2020633"/>
            <a:chOff x="406908" y="1226820"/>
            <a:chExt cx="6049975" cy="20206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0499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2.二次函数的图像如图所示,则其表达式是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1751648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y=-x²+2x+4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123122"/>
              <a:ext cx="17103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y=x²+2x+4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494598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y=-x²-2x+4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2866072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y=-x²+2x+3</a:t>
              </a:r>
            </a:p>
          </p:txBody>
        </p:sp>
      </p:grpSp>
      <p:grpSp>
        <p:nvGrpSpPr>
          <p:cNvPr id="20" name="q17-figure"/>
          <p:cNvGrpSpPr/>
          <p:nvPr/>
        </p:nvGrpSpPr>
        <p:grpSpPr>
          <a:xfrm>
            <a:off x="9134475" y="1704975"/>
            <a:ext cx="2600325" cy="2781300"/>
            <a:chOff x="9134475" y="1704975"/>
            <a:chExt cx="2600325" cy="27813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4475" y="1704975"/>
              <a:ext cx="2600325" cy="2781300"/>
            </a:xfrm>
            <a:prstGeom prst="rect">
              <a:avLst/>
            </a:prstGeom>
          </p:spPr>
        </p:pic>
      </p:grpSp>
      <p:grpSp>
        <p:nvGrpSpPr>
          <p:cNvPr id="25" name="q17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21" name="Rectangle 21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8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8-stem"/>
          <p:cNvGrpSpPr/>
          <p:nvPr/>
        </p:nvGrpSpPr>
        <p:grpSpPr>
          <a:xfrm>
            <a:off x="406908" y="1226820"/>
            <a:ext cx="10250424" cy="1955292"/>
            <a:chOff x="406908" y="1226820"/>
            <a:chExt cx="10250424" cy="19552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2504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某班数学兴趣小组对函数y=|x²-2x|的图像和性质进行了探究,探究过程如下,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请补充完整.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9457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(1)自变量x的取值范围是全体实数,x与y的几组对应值列表如下:其中,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m=______.</a:t>
              </a:r>
            </a:p>
          </p:txBody>
        </p:sp>
      </p:grpSp>
      <p:grpSp>
        <p:nvGrpSpPr>
          <p:cNvPr id="20" name="q18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6" name="Rectangle 16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875020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9-stem"/>
          <p:cNvGrpSpPr/>
          <p:nvPr/>
        </p:nvGrpSpPr>
        <p:grpSpPr>
          <a:xfrm>
            <a:off x="406908" y="1226820"/>
            <a:ext cx="9183929" cy="469392"/>
            <a:chOff x="406908" y="1226820"/>
            <a:chExt cx="9183929" cy="4693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1839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已知线段b是线段a、c的比例中项，如果a=2,c=3，那么b=____.</a:t>
              </a:r>
            </a:p>
          </p:txBody>
        </p:sp>
      </p:grpSp>
      <p:grpSp>
        <p:nvGrpSpPr>
          <p:cNvPr id="19" name="q1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√6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0-stem"/>
          <p:cNvGrpSpPr/>
          <p:nvPr/>
        </p:nvGrpSpPr>
        <p:grpSpPr>
          <a:xfrm>
            <a:off x="406908" y="1226820"/>
            <a:ext cx="10616184" cy="926592"/>
            <a:chOff x="406908" y="1226820"/>
            <a:chExt cx="1061618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6161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已知线段AB的长是3cm，M是线段AB的黄金分割点，那么较长线段AM的长是___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cm，较短线段BM的长是___cm.</a:t>
              </a:r>
            </a:p>
          </p:txBody>
        </p:sp>
      </p:grpSp>
      <p:grpSp>
        <p:nvGrpSpPr>
          <p:cNvPr id="19" name="q20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37059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(3√5-3)/2，(9-3√5)/2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1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1-stem"/>
          <p:cNvGrpSpPr/>
          <p:nvPr/>
        </p:nvGrpSpPr>
        <p:grpSpPr>
          <a:xfrm>
            <a:off x="406908" y="1226820"/>
            <a:ext cx="7520026" cy="1040892"/>
            <a:chOff x="406908" y="1226820"/>
            <a:chExt cx="7520026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38691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已知抛物线 y=ax²+2ax-1.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75200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(2)若该抛物线的顶点在x轴上，求抛物线的表达式；</a:t>
              </a:r>
            </a:p>
          </p:txBody>
        </p:sp>
      </p:grpSp>
      <p:grpSp>
        <p:nvGrpSpPr>
          <p:cNvPr id="20" name="q21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499092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由(1)知，抛物线的顶点坐标为(-1,-a-1)，∵抛物线的顶点在x轴上，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∴-a-1=0，解得a=-1，∴抛物线的表达式为y=-x²-2x-1。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2-stem"/>
          <p:cNvGrpSpPr/>
          <p:nvPr/>
        </p:nvGrpSpPr>
        <p:grpSpPr>
          <a:xfrm>
            <a:off x="406908" y="1226820"/>
            <a:ext cx="7491984" cy="1498092"/>
            <a:chOff x="406908" y="1226820"/>
            <a:chExt cx="749198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491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如图，抛物线与x轴交于A、B两点，与y轴交于点C(0,3)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，顶点坐标为(1,4)，点D(m,n)是抛物线上一点。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37883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(1)求该抛物线的表达式；</a:t>
              </a:r>
            </a:p>
          </p:txBody>
        </p:sp>
      </p:grpSp>
      <p:grpSp>
        <p:nvGrpSpPr>
          <p:cNvPr id="17" name="q22-figure"/>
          <p:cNvGrpSpPr/>
          <p:nvPr/>
        </p:nvGrpSpPr>
        <p:grpSpPr>
          <a:xfrm>
            <a:off x="9144000" y="1619250"/>
            <a:ext cx="2590800" cy="2952750"/>
            <a:chOff x="9144000" y="1619250"/>
            <a:chExt cx="2590800" cy="29527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0" y="1619250"/>
              <a:ext cx="2590800" cy="2952750"/>
            </a:xfrm>
            <a:prstGeom prst="rect">
              <a:avLst/>
            </a:prstGeom>
          </p:spPr>
        </p:pic>
      </p:grpSp>
      <p:grpSp>
        <p:nvGrpSpPr>
          <p:cNvPr id="22" name="q22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8" name="Rectangle 18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5875020"/>
              <a:ext cx="100813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解：(1)∵顶点坐标为(1,4)，∴设该抛物线的表达式为y=a(x-1)²+4。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3-stem"/>
          <p:cNvGrpSpPr/>
          <p:nvPr/>
        </p:nvGrpSpPr>
        <p:grpSpPr>
          <a:xfrm>
            <a:off x="406908" y="1226820"/>
            <a:ext cx="7622438" cy="1498092"/>
            <a:chOff x="406908" y="1226820"/>
            <a:chExt cx="7622438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5830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4.如图,已知抛物线 y=ax²+bx+c 过原点O,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格点A是该抛物线的顶点.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76224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(2)点M(m,t),N(m+2,t)都在该抛物线上,求m的值.</a:t>
              </a:r>
            </a:p>
          </p:txBody>
        </p:sp>
      </p:grpSp>
      <p:grpSp>
        <p:nvGrpSpPr>
          <p:cNvPr id="17" name="q23-figure"/>
          <p:cNvGrpSpPr/>
          <p:nvPr/>
        </p:nvGrpSpPr>
        <p:grpSpPr>
          <a:xfrm>
            <a:off x="8867775" y="1704975"/>
            <a:ext cx="2867025" cy="2781300"/>
            <a:chOff x="8867775" y="1704975"/>
            <a:chExt cx="2867025" cy="278130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67775" y="1704975"/>
              <a:ext cx="2867025" cy="2781300"/>
            </a:xfrm>
            <a:prstGeom prst="rect">
              <a:avLst/>
            </a:prstGeom>
          </p:spPr>
        </p:pic>
      </p:grpSp>
      <p:grpSp>
        <p:nvGrpSpPr>
          <p:cNvPr id="22" name="q23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8" name="Rectangle 18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5875020"/>
              <a:ext cx="103859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∵点M(m,t),N(m+2,t)都在该抛物线上，∴m+m+2=2×(-1)，∴m=-2。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4-stem"/>
          <p:cNvGrpSpPr/>
          <p:nvPr/>
        </p:nvGrpSpPr>
        <p:grpSpPr>
          <a:xfrm>
            <a:off x="406908" y="1226820"/>
            <a:ext cx="6882384" cy="1840992"/>
            <a:chOff x="406908" y="1226820"/>
            <a:chExt cx="68823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8823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点B在y轴上，且AD//BC//x轴，过B、C、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D三点的抛物线的顶点坐标为(2,2)，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则抛物线的表达式是y=______。</a:t>
              </a:r>
            </a:p>
          </p:txBody>
        </p:sp>
      </p:grpSp>
      <p:grpSp>
        <p:nvGrpSpPr>
          <p:cNvPr id="16" name="q24-figure"/>
          <p:cNvGrpSpPr/>
          <p:nvPr/>
        </p:nvGrpSpPr>
        <p:grpSpPr>
          <a:xfrm>
            <a:off x="9277350" y="1143000"/>
            <a:ext cx="2324100" cy="2647950"/>
            <a:chOff x="9277350" y="1143000"/>
            <a:chExt cx="2324100" cy="26479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7350" y="1143000"/>
              <a:ext cx="2324100" cy="2647950"/>
            </a:xfrm>
            <a:prstGeom prst="rect">
              <a:avLst/>
            </a:prstGeom>
          </p:spPr>
        </p:pic>
      </p:grpSp>
      <p:grpSp>
        <p:nvGrpSpPr>
          <p:cNvPr id="21" name="q24-answer"/>
          <p:cNvGrpSpPr/>
          <p:nvPr/>
        </p:nvGrpSpPr>
        <p:grpSpPr>
          <a:xfrm>
            <a:off x="419100" y="4286250"/>
            <a:ext cx="11353800" cy="2247900"/>
            <a:chOff x="419100" y="4286250"/>
            <a:chExt cx="113538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419100" y="4286250"/>
              <a:ext cx="11353800" cy="2247900"/>
            </a:xfrm>
            <a:prstGeom prst="roundRect">
              <a:avLst>
                <a:gd name="adj" fmla="val 508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2862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4262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270" y="4633912"/>
              <a:ext cx="10028396" cy="1725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AD//BC//x轴，∴BC=4。∵四边形ABCD是平行四边形，∴AD=BC=4。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∵点A的坐标为(2,6)，∴D(6,6)。设抛物线为y=a(x-2)²+2，代入点D的坐标，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得6=16a+2，解得a=1/4，∴抛物线的表达式为y=1/4(x-2)²+2。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5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5-stem"/>
          <p:cNvGrpSpPr/>
          <p:nvPr/>
        </p:nvGrpSpPr>
        <p:grpSpPr>
          <a:xfrm>
            <a:off x="406908" y="1226820"/>
            <a:ext cx="10463784" cy="1840992"/>
            <a:chOff x="406908" y="1226820"/>
            <a:chExt cx="104637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463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那么这两个交点之间的距离叫作这条抛物线的“反碟长”。如图，抛物线L₁: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y=-x²随其顶点沿直线y=1/2x平移一定距离后，得到新抛物线L₂的“反碟长”恰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好为4，那么抛物线L₂的表达式是______。</a:t>
              </a:r>
            </a:p>
          </p:txBody>
        </p:sp>
      </p:grpSp>
      <p:grpSp>
        <p:nvGrpSpPr>
          <p:cNvPr id="19" name="q25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5" name="Rectangle 15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2263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417820"/>
              <a:ext cx="928420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 由题意知 (-1,b) 既在 y=-3x+3 上，又在 y=ax²+1 上，∴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b=-3×(-1)+3=6，6=a×(-1)²+1，解得 a=5。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6-stem"/>
          <p:cNvGrpSpPr/>
          <p:nvPr/>
        </p:nvGrpSpPr>
        <p:grpSpPr>
          <a:xfrm>
            <a:off x="406908" y="1226820"/>
            <a:ext cx="9457944" cy="926592"/>
            <a:chOff x="406908" y="1226820"/>
            <a:chExt cx="945794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457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5.已知一条抛物线经过 A(0,10),B(m+2,n),C(4-m,n),D(3,1)四点,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则抛物线的表达式为</a:t>
              </a:r>
            </a:p>
          </p:txBody>
        </p:sp>
      </p:grpSp>
      <p:grpSp>
        <p:nvGrpSpPr>
          <p:cNvPr id="19" name="q26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7-stem"/>
          <p:cNvGrpSpPr/>
          <p:nvPr/>
        </p:nvGrpSpPr>
        <p:grpSpPr>
          <a:xfrm>
            <a:off x="406908" y="1226820"/>
            <a:ext cx="6425184" cy="1840992"/>
            <a:chOff x="406908" y="1226820"/>
            <a:chExt cx="64251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4251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6.如图,是由长方形和抛物线构成的图案,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由6个全等的基本图案组成,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建立如图所示的平面直角坐标系.若抛物线A₁的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表达式为 y=-(x-6)²+4,则抛物线A₆的表达式为</a:t>
              </a:r>
            </a:p>
          </p:txBody>
        </p:sp>
      </p:grpSp>
      <p:grpSp>
        <p:nvGrpSpPr>
          <p:cNvPr id="16" name="q27-figure"/>
          <p:cNvGrpSpPr/>
          <p:nvPr/>
        </p:nvGrpSpPr>
        <p:grpSpPr>
          <a:xfrm>
            <a:off x="7810500" y="2171700"/>
            <a:ext cx="3924300" cy="1847850"/>
            <a:chOff x="7810500" y="2171700"/>
            <a:chExt cx="3924300" cy="18478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0500" y="2171700"/>
              <a:ext cx="3924300" cy="1847850"/>
            </a:xfrm>
            <a:prstGeom prst="rect">
              <a:avLst/>
            </a:prstGeom>
          </p:spPr>
        </p:pic>
      </p:grpSp>
      <p:grpSp>
        <p:nvGrpSpPr>
          <p:cNvPr id="21" name="q27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1890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y=(x+2)²-4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04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8897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 题 · 未判定 2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9-stem"/>
          <p:cNvGrpSpPr/>
          <p:nvPr/>
        </p:nvGrpSpPr>
        <p:grpSpPr>
          <a:xfrm>
            <a:off x="406908" y="1226820"/>
            <a:ext cx="10463784" cy="1840992"/>
            <a:chOff x="406908" y="1226820"/>
            <a:chExt cx="104637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463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那么这两个交点之间的距离叫作这条抛物线的“反碟长”。如图，抛物线L₁: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y=-x²随其顶点沿直线y=1/2x平移一定距离后，得到新抛物线L₂的“反碟长”恰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好为4，那么抛物线L₂的表达式是______。</a:t>
              </a:r>
            </a:p>
          </p:txBody>
        </p:sp>
      </p:grpSp>
      <p:grpSp>
        <p:nvGrpSpPr>
          <p:cNvPr id="19" name="q2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2026-09-12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30-stem"/>
          <p:cNvGrpSpPr/>
          <p:nvPr/>
        </p:nvGrpSpPr>
        <p:grpSpPr>
          <a:xfrm>
            <a:off x="406908" y="1226820"/>
            <a:ext cx="7446264" cy="1840992"/>
            <a:chOff x="406908" y="1226820"/>
            <a:chExt cx="744626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44626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如图，阳光透过窗口照到室内，在地面上留下2.7m宽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的亮区，已知亮区一边到窗下的墙脚距离CE为8.7m，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窗口高AB=1.m，那么窗口底边离地面的高度BC为_____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m.</a:t>
              </a:r>
            </a:p>
          </p:txBody>
        </p:sp>
      </p:grpSp>
      <p:grpSp>
        <p:nvGrpSpPr>
          <p:cNvPr id="16" name="q30-figure"/>
          <p:cNvGrpSpPr/>
          <p:nvPr/>
        </p:nvGrpSpPr>
        <p:grpSpPr>
          <a:xfrm>
            <a:off x="8724900" y="1695450"/>
            <a:ext cx="3009900" cy="2790825"/>
            <a:chOff x="8724900" y="1695450"/>
            <a:chExt cx="3009900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24900" y="1695450"/>
              <a:ext cx="3009900" cy="2790825"/>
            </a:xfrm>
            <a:prstGeom prst="rect">
              <a:avLst/>
            </a:prstGeom>
          </p:spPr>
        </p:pic>
      </p:grpSp>
      <p:grpSp>
        <p:nvGrpSpPr>
          <p:cNvPr id="21" name="q30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5.8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05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5 题 · 中等 5 · 2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错的学生：丁嘉炜、李哲瀚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32-stem"/>
          <p:cNvGrpSpPr/>
          <p:nvPr/>
        </p:nvGrpSpPr>
        <p:grpSpPr>
          <a:xfrm>
            <a:off x="406908" y="1226820"/>
            <a:ext cx="6288024" cy="3849433"/>
            <a:chOff x="406908" y="1226820"/>
            <a:chExt cx="6288024" cy="38494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288024" cy="2298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如图,小明打高尔夫球,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小球的飞行路线是一条抛物线.如果不考虑空气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阻力,小球的飞行高度h(米)与飞行时间t(秒)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之间满足函数关系h=20t-5t².则小球从飞出到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落地瞬间所需要的时间为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3580448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2 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3951922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3 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4323398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4 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4694872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5 秒</a:t>
              </a:r>
            </a:p>
          </p:txBody>
        </p:sp>
      </p:grpSp>
      <p:grpSp>
        <p:nvGrpSpPr>
          <p:cNvPr id="20" name="q32-figure"/>
          <p:cNvGrpSpPr/>
          <p:nvPr/>
        </p:nvGrpSpPr>
        <p:grpSpPr>
          <a:xfrm>
            <a:off x="7815792" y="2276475"/>
            <a:ext cx="3913717" cy="1638300"/>
            <a:chOff x="7815792" y="2276475"/>
            <a:chExt cx="3913717" cy="16383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5792" y="2276475"/>
              <a:ext cx="3913717" cy="1638300"/>
            </a:xfrm>
            <a:prstGeom prst="rect">
              <a:avLst/>
            </a:prstGeom>
          </p:spPr>
        </p:pic>
      </p:grpSp>
      <p:grpSp>
        <p:nvGrpSpPr>
          <p:cNvPr id="25" name="q32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21" name="Rectangle 21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33-stem"/>
          <p:cNvGrpSpPr/>
          <p:nvPr/>
        </p:nvGrpSpPr>
        <p:grpSpPr>
          <a:xfrm>
            <a:off x="406908" y="1226820"/>
            <a:ext cx="8489290" cy="1040892"/>
            <a:chOff x="406908" y="1226820"/>
            <a:chExt cx="8489290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84892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已知抛物线 y=ax²+1(a≠0)与直线 y=-3x+3 交于点(-1,b).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252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(1)求a、b的值；</a:t>
              </a:r>
            </a:p>
          </p:txBody>
        </p:sp>
      </p:grpSp>
      <p:grpSp>
        <p:nvGrpSpPr>
          <p:cNvPr id="20" name="q33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28420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 由题意知 (-1,b) 既在 y=-3x+3 上，又在 y=ax²+1 上，∴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b=-3×(-1)+3=6，6=a×(-1)²+1，解得 a=5。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34-stem"/>
          <p:cNvGrpSpPr/>
          <p:nvPr/>
        </p:nvGrpSpPr>
        <p:grpSpPr>
          <a:xfrm>
            <a:off x="406908" y="1226820"/>
            <a:ext cx="10311384" cy="1383792"/>
            <a:chOff x="406908" y="1226820"/>
            <a:chExt cx="1031138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31138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某种礼炮的升空高度h(m)与飞行时间t(s)的表达式是h=-5/2 t²+30t+1,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则这种礼炮在点火升空到最高点引爆,则从点火升空到引爆需要的时间为____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_s.</a:t>
              </a:r>
            </a:p>
          </p:txBody>
        </p:sp>
      </p:grpSp>
      <p:grpSp>
        <p:nvGrpSpPr>
          <p:cNvPr id="19" name="q34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5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35-stem"/>
          <p:cNvGrpSpPr/>
          <p:nvPr/>
        </p:nvGrpSpPr>
        <p:grpSpPr>
          <a:xfrm>
            <a:off x="406908" y="1226820"/>
            <a:ext cx="7522464" cy="2477833"/>
            <a:chOff x="406908" y="1226820"/>
            <a:chExt cx="7522464" cy="24778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52246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已知点 (x₁,y₁)、(x₂,y₂) 均在抛物线 y=x²-1 上，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则下列说法正确的是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2208848"/>
              <a:ext cx="31119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若 y₁ = y₂，则 x₁ = x₂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580322"/>
              <a:ext cx="34007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若 x₁ = -x₂，则 y₁ = -y₂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951798"/>
              <a:ext cx="35582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若 0 &lt; x₁ &lt; x₂，则 y₁ &gt; y₂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3323272"/>
              <a:ext cx="35582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若 x₁ &lt; x₂ &lt; 0，则 y₁ &gt; y₂</a:t>
              </a:r>
            </a:p>
          </p:txBody>
        </p:sp>
      </p:grpSp>
      <p:grpSp>
        <p:nvGrpSpPr>
          <p:cNvPr id="23" name="q35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9" name="Rectangle 19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教师录入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accent"/>
          <p:cNvSpPr/>
          <p:nvPr/>
        </p:nvSpPr>
        <p:spPr>
          <a:xfrm>
            <a:off x="800100" y="3048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4" name="ending-line"/>
          <p:cNvGrpSpPr/>
          <p:nvPr/>
        </p:nvGrpSpPr>
        <p:grpSpPr>
          <a:xfrm>
            <a:off x="1050036" y="3187065"/>
            <a:ext cx="546632" cy="645414"/>
            <a:chOff x="1050036" y="3187065"/>
            <a:chExt cx="546632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1050036" y="31870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xue-weekend-wrongdeck">
  <a:themeElements>
    <a:clrScheme name="minxue-weekend-wrongdeck">
      <a:dk1>
        <a:srgbClr val="000000"/>
      </a:dk1>
      <a:lt1>
        <a:srgbClr val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4F81BD"/>
      </a:accent4>
      <a:accent5>
        <a:srgbClr val="EEECE1"/>
      </a:accent5>
      <a:accent6>
        <a:srgbClr val="F79646"/>
      </a:accent6>
      <a:hlink>
        <a:srgbClr val="C0504D"/>
      </a:hlink>
      <a:folHlink>
        <a:srgbClr val="9BBB59"/>
      </a:folHlink>
    </a:clrScheme>
    <a:fontScheme name="minxue-weekend-wrong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xue-weekend-wrong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xue-weekend-wrongdeck">
  <a:themeElements>
    <a:clrScheme name="minxue-weekend-wrongdeck">
      <a:dk1>
        <a:srgbClr val="000000"/>
      </a:dk1>
      <a:lt1>
        <a:srgbClr val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4F81BD"/>
      </a:accent4>
      <a:accent5>
        <a:srgbClr val="EEECE1"/>
      </a:accent5>
      <a:accent6>
        <a:srgbClr val="F79646"/>
      </a:accent6>
      <a:hlink>
        <a:srgbClr val="C0504D"/>
      </a:hlink>
      <a:folHlink>
        <a:srgbClr val="9BBB59"/>
      </a:folHlink>
    </a:clrScheme>
    <a:fontScheme name="minxue-weekend-wrong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xue-weekend-wrong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2026-09-17T04:04:59Z</dcterms:created>
  <dcterms:modified xsi:type="dcterms:W3CDTF">2026-09-17T04:04:59Z</dcterms:modified>
  <cp:category/>
  <cp:contentStatus/>
</cp:coreProperties>
</file>