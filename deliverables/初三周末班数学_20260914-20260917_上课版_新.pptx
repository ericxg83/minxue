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 题 · 2026-09-16 · 难度 3 · 1 人错 · 填空题</a:t>
            </a:r>
          </a:p>
          <a:p>
            <a:r>
              <a:t>· 张诗蕊 [概念不理解] 学生误认为高的比等于边长比，未掌握面积一定时高与底成反比的性质。</a:t>
            </a:r>
          </a:p>
          <a:p>
            <a:r>
              <a:t>解析：设三角形面积为S，则S = (1/2)a·ha = (1/2)b·hb = (1/2)c·hc，因此a·ha = b·hb = c·hc，得ha : hb : hc = 1/a : 1/b : 1/c。代入a=2, b=4, c=3，得1/2 : 1/4 : 1/3。通分，最小公分母为12，化为6/12 : 3/12 : 4/12，即6:3:4。该比例已是最简整数比。所以，ha:hb:hc = 6:3:4。</a:t>
            </a:r>
          </a:p>
          <a:p>
            <a:r>
              <a:t>原卷图：https://minxue-app-oss.oss-cn-shanghai.aliyuncs.com/images/bf235b85-e5d4-4f50-9e42-af8330df9451/20260915/6949a6cf-d2b3-4740-bcb2-3a34220ed601.jpg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2 题 · 2026-09-15 · 难度 2 · 1 人错 · 解答题</a:t>
            </a:r>
          </a:p>
          <a:p>
            <a:r>
              <a:t>母题：如图，抛物线 y=2(x-2)² 与平行于 x 轴的直线交于点 A、B，抛物线顶点为 C，△ABC 为等边三角形，求：</a:t>
            </a:r>
          </a:p>
          <a:p>
            <a:r>
              <a:t>· 李哲瀚 [步骤遗漏] 答案较标准解析明显过短，可能省略了解题步骤</a:t>
            </a:r>
          </a:p>
          <a:p>
            <a:r>
              <a:t>原卷图：https://minxue-app-oss.oss-cn-shanghai.aliyuncs.com/images/0575f64d-3c9e-42d5-a5e4-7a461ccef385/20260908/11b2d209-1845-425f-bbcf-76228549c74d.jpg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 题 · 2026-09-15 · 难度 2 · 1 人错 · 解答题</a:t>
            </a:r>
          </a:p>
          <a:p>
            <a:r>
              <a:t>母题：Ⅱ已知二次函数y=x²-2x-3.</a:t>
            </a:r>
          </a:p>
          <a:p>
            <a:r>
              <a:t>· 陈施君 [步骤遗漏] 答案较标准解析明显过短，可能省略了解题步骤</a:t>
            </a:r>
          </a:p>
          <a:p>
            <a:r>
              <a:t>原卷图：https://minxue-app-oss.oss-cn-shanghai.aliyuncs.com/images/23aabcd4-e3a5-47e5-9170-78d2122255b3/20260908/d882f798-a8b2-4581-a589-da24dde9207e.jpg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4 题 · 2026-09-15 · 难度 3 · 1 人错 · 解答题</a:t>
            </a:r>
          </a:p>
          <a:p>
            <a:r>
              <a:t>母题：在平面直角坐标系 xOy 中，将直线 l: y=-3/4x-3 沿 x 轴翻折，得到一条新直线与 x 轴交于点 A，与 y 轴交于点 B，将抛物线 C₁: y=1/3x² 沿 x 轴平移，得到一条新抛物线 C₂ 与 y 轴交于点 D，与直线 AB 交于点 E、F，连接 DF，满足 DF//x 轴. 求：</a:t>
            </a:r>
          </a:p>
          <a:p>
            <a:r>
              <a:t>· 李哲瀚 [步骤遗漏] 学生仅设出D点坐标，未利用DF∥x轴求F点并代入直线方程求解</a:t>
            </a:r>
          </a:p>
          <a:p>
            <a:r>
              <a:t>原卷图：https://minxue-app-oss.oss-cn-shanghai.aliyuncs.com/images/0575f64d-3c9e-42d5-a5e4-7a461ccef385/20260908/11b2d209-1845-425f-bbcf-76228549c74d.jpg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5 题 · 2026-09-15 · 难度 3 · 1 人错 · 解答题</a:t>
            </a:r>
          </a:p>
          <a:p>
            <a:r>
              <a:t>· 程思豪 [计算错误] 学生算出 -2，正确应为 -1，属计算环节失误</a:t>
            </a:r>
          </a:p>
          <a:p>
            <a:r>
              <a:t>原卷图：https://minxue-app-oss.oss-cn-shanghai.aliyuncs.com/images/afae6ef7-d071-42c5-b229-faaef0e443f7/20260908/1d471c73-713f-40ed-9dc7-8bda8e54ed34.jpg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6 题 · 2026-09-15 · 难度 3 · 1 人错 · 解答题</a:t>
            </a:r>
          </a:p>
          <a:p>
            <a:r>
              <a:t>· 李哲瀚 [步骤遗漏] 答案较标准解析明显过短，可能省略了解题步骤</a:t>
            </a:r>
          </a:p>
          <a:p>
            <a:r>
              <a:t>原卷图：https://minxue-app-oss.oss-cn-shanghai.aliyuncs.com/images/0575f64d-3c9e-42d5-a5e4-7a461ccef385/20260908/6feffe8d-52ea-46a0-af58-30ec5b74051b.jpg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7 题 · 2026-09-15 · 难度 4 · 1 人错 · 解答题</a:t>
            </a:r>
          </a:p>
          <a:p>
            <a:r>
              <a:t>母题：11.已知二次函数 y=ax²+bx+c(a≠0)的图像过点 A(1,0),点 B(-3,0)和点 C.</a:t>
            </a:r>
          </a:p>
          <a:p>
            <a:r>
              <a:t>· 陈施君 [步骤遗漏] 答案较标准解析明显过短，可能省略了解题步骤</a:t>
            </a:r>
          </a:p>
          <a:p>
            <a:r>
              <a:t>原卷图：https://minxue-app-oss.oss-cn-shanghai.aliyuncs.com/images/23aabcd4-e3a5-47e5-9170-78d2122255b3/20260908/e192d1bb-0c94-4752-b8f6-32ff21a4b2e1.jpg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8 题 · 2026-09-15 · 难度 4 · 1 人错 · 解答题</a:t>
            </a:r>
          </a:p>
          <a:p>
            <a:r>
              <a:t>母题：11.已知二次函数 y=ax²+bx+c(a≠0)的图像过点 A(1,0),点 B(-3,0)和点 C.</a:t>
            </a:r>
          </a:p>
          <a:p>
            <a:r>
              <a:t>· 陈施君 [步骤遗漏] 答案较标准解析明显过短，可能省略了解题步骤</a:t>
            </a:r>
          </a:p>
          <a:p>
            <a:r>
              <a:t>原卷图：https://minxue-app-oss.oss-cn-shanghai.aliyuncs.com/images/23aabcd4-e3a5-47e5-9170-78d2122255b3/20260908/e192d1bb-0c94-4752-b8f6-32ff21a4b2e1.jpg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9 题 · 2026-09-15 · 难度 4 · 1 人错 · 解答题</a:t>
            </a:r>
          </a:p>
          <a:p>
            <a:r>
              <a:t>· 李哲瀚 [步骤遗漏] 答案较标准解析明显过短，可能省略了解题步骤</a:t>
            </a:r>
          </a:p>
          <a:p>
            <a:r>
              <a:t>原卷图：https://minxue-app-oss.oss-cn-shanghai.aliyuncs.com/images/0575f64d-3c9e-42d5-a5e4-7a461ccef385/20260908/11b2d209-1845-425f-bbcf-76228549c74d.jpg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10 题 · 2026-09-15 · 难度 4 · 1 人错 · 解答题</a:t>
            </a:r>
          </a:p>
          <a:p>
            <a:r>
              <a:t>· 张诗蕊 [步骤遗漏] 答案较标准解析明显过短，可能省略了解题步骤</a:t>
            </a:r>
          </a:p>
          <a:p>
            <a:r>
              <a:t>原卷图：https://minxue-app-oss.oss-cn-shanghai.aliyuncs.com/images/bf235b85-e5d4-4f50-9e42-af8330df9451/20260908/9238a85d-72f9-4575-8c7b-74b12788bab7.jpg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-1737360"/>
            <a:ext cx="4937760" cy="4937760"/>
          </a:xfrm>
          <a:prstGeom prst="ellipse">
            <a:avLst/>
          </a:prstGeom>
          <a:solidFill>
            <a:srgbClr val="FFFFFF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89920" y="4206240"/>
            <a:ext cx="3474720" cy="3474720"/>
          </a:xfrm>
          <a:prstGeom prst="ellipse">
            <a:avLst/>
          </a:prstGeom>
          <a:solidFill>
            <a:srgbClr val="FFFF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371600" y="4754880"/>
            <a:ext cx="2926080" cy="2926080"/>
          </a:xfrm>
          <a:prstGeom prst="ellipse">
            <a:avLst/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138160" y="5394960"/>
            <a:ext cx="1463040" cy="1463040"/>
          </a:xfrm>
          <a:prstGeom prst="ellipse">
            <a:avLst/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786384"/>
            <a:ext cx="10515600" cy="1920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2000" b="1">
                <a:solidFill>
                  <a:srgbClr val="CFCBF7"/>
                </a:solidFill>
                <a:latin typeface="微软雅黑"/>
                <a:ea typeface="微软雅黑"/>
                <a:cs typeface="微软雅黑"/>
              </a:rPr>
              <a:t>周末错题讲评</a:t>
            </a:r>
          </a:p>
          <a:p>
            <a:pPr>
              <a:spcBef>
                <a:spcPts val="600"/>
              </a:spcBef>
            </a:pPr>
            <a:r>
              <a:rPr sz="4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初三 周末班错题课件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C9C6F2"/>
                </a:solidFill>
                <a:latin typeface="微软雅黑"/>
                <a:ea typeface="微软雅黑"/>
                <a:cs typeface="微软雅黑"/>
              </a:rPr>
              <a:t>日期倒序 · 每天内部由易到难　｜　放映时单击一下浮现参考答案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3127248"/>
            <a:ext cx="2304288" cy="1298448"/>
          </a:xfrm>
          <a:prstGeom prst="roundRect">
            <a:avLst>
              <a:gd name="adj" fmla="val 14000"/>
            </a:avLst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164592" bIns="128016"/>
          <a:lstStyle/>
          <a:p>
            <a:pPr algn="ctr"/>
            <a:r>
              <a:rPr sz="3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10</a:t>
            </a:r>
          </a:p>
          <a:p>
            <a:r>
              <a:rPr sz="1250">
                <a:solidFill>
                  <a:srgbClr val="D4D1F6"/>
                </a:solidFill>
                <a:latin typeface="微软雅黑"/>
                <a:ea typeface="微软雅黑"/>
                <a:cs typeface="微软雅黑"/>
              </a:rPr>
              <a:t>题目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79" y="3127248"/>
            <a:ext cx="2304288" cy="1298448"/>
          </a:xfrm>
          <a:prstGeom prst="roundRect">
            <a:avLst>
              <a:gd name="adj" fmla="val 14000"/>
            </a:avLst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164592" bIns="128016"/>
          <a:lstStyle/>
          <a:p>
            <a:pPr algn="ctr"/>
            <a:r>
              <a:rPr sz="3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  <a:p>
            <a:r>
              <a:rPr sz="1250">
                <a:solidFill>
                  <a:srgbClr val="D4D1F6"/>
                </a:solidFill>
                <a:latin typeface="微软雅黑"/>
                <a:ea typeface="微软雅黑"/>
                <a:cs typeface="微软雅黑"/>
              </a:rPr>
              <a:t>有课日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25312" y="3127248"/>
            <a:ext cx="2304288" cy="1298448"/>
          </a:xfrm>
          <a:prstGeom prst="roundRect">
            <a:avLst>
              <a:gd name="adj" fmla="val 14000"/>
            </a:avLst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164592" bIns="128016"/>
          <a:lstStyle/>
          <a:p>
            <a:pPr algn="ctr"/>
            <a:r>
              <a:rPr sz="3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  <a:p>
            <a:r>
              <a:rPr sz="1250">
                <a:solidFill>
                  <a:srgbClr val="D4D1F6"/>
                </a:solidFill>
                <a:latin typeface="微软雅黑"/>
                <a:ea typeface="微软雅黑"/>
                <a:cs typeface="微软雅黑"/>
              </a:rPr>
              <a:t>学生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67344" y="3127248"/>
            <a:ext cx="2304288" cy="1298448"/>
          </a:xfrm>
          <a:prstGeom prst="roundRect">
            <a:avLst>
              <a:gd name="adj" fmla="val 14000"/>
            </a:avLst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164592" bIns="128016"/>
          <a:lstStyle/>
          <a:p>
            <a:pPr algn="ctr"/>
            <a:r>
              <a:rPr sz="3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10</a:t>
            </a:r>
          </a:p>
          <a:p>
            <a:r>
              <a:rPr sz="1250">
                <a:solidFill>
                  <a:srgbClr val="D4D1F6"/>
                </a:solidFill>
                <a:latin typeface="微软雅黑"/>
                <a:ea typeface="微软雅黑"/>
                <a:cs typeface="微软雅黑"/>
              </a:rPr>
              <a:t>错题条数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4846320"/>
            <a:ext cx="10424160" cy="1554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BEBAEE"/>
                </a:solidFill>
                <a:latin typeface="微软雅黑"/>
                <a:ea typeface="微软雅黑"/>
                <a:cs typeface="微软雅黑"/>
              </a:rPr>
              <a:t>时段　2026-09-14 ~ 2026-09-17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BEBAEE"/>
                </a:solidFill>
                <a:latin typeface="微软雅黑"/>
                <a:ea typeface="微软雅黑"/>
                <a:cs typeface="微软雅黑"/>
              </a:rPr>
              <a:t>学生　张诗蕊、李哲瀚、陈施君、程思豪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BEBAEE"/>
                </a:solidFill>
                <a:latin typeface="微软雅黑"/>
                <a:ea typeface="微软雅黑"/>
                <a:cs typeface="微软雅黑"/>
              </a:rPr>
              <a:t>备注　演讲者视图可见：谁错了、错在哪、原卷图链接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384048"/>
            <a:ext cx="11350447" cy="608990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4672" y="786384"/>
            <a:ext cx="77724" cy="42062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62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731520"/>
            <a:ext cx="9601200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2500" b="1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本份课件目录</a:t>
            </a:r>
            <a:r>
              <a:rPr sz="140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　按日期倒序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81328"/>
            <a:ext cx="10545775" cy="44805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1300" b="1">
                <a:solidFill>
                  <a:srgbClr val="4C51E0"/>
                </a:solidFill>
                <a:latin typeface="微软雅黑"/>
                <a:ea typeface="微软雅黑"/>
                <a:cs typeface="微软雅黑"/>
              </a:rPr>
              <a:t>日期                     题数    学生    基础    中等    较难    未判定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2026-09-16              1     1     0     1     0      0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2026-09-15              9     4     2     3     4      0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938528"/>
            <a:ext cx="10545775" cy="15240"/>
          </a:xfrm>
          <a:prstGeom prst="rect">
            <a:avLst/>
          </a:prstGeom>
          <a:solidFill>
            <a:srgbClr val="E5E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280160"/>
            <a:ext cx="4206240" cy="4206240"/>
          </a:xfrm>
          <a:prstGeom prst="ellipse">
            <a:avLst/>
          </a:prstGeom>
          <a:solidFill>
            <a:srgbClr val="FFFFFF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97280" y="4572000"/>
            <a:ext cx="3108960" cy="3108960"/>
          </a:xfrm>
          <a:prstGeom prst="ellipse">
            <a:avLst/>
          </a:prstGeom>
          <a:solidFill>
            <a:srgbClr val="FFFF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956816"/>
            <a:ext cx="10332720" cy="2743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1500" b="1">
                <a:solidFill>
                  <a:srgbClr val="CFCBF7"/>
                </a:solidFill>
                <a:latin typeface="微软雅黑"/>
                <a:ea typeface="微软雅黑"/>
                <a:cs typeface="微软雅黑"/>
              </a:rPr>
              <a:t>SECTION 01 / 02</a:t>
            </a:r>
          </a:p>
          <a:p>
            <a:pPr>
              <a:spcBef>
                <a:spcPts val="800"/>
              </a:spcBef>
            </a:pPr>
            <a:r>
              <a:rPr sz="4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2026-09-16</a:t>
            </a:r>
          </a:p>
          <a:p>
            <a:pPr>
              <a:spcBef>
                <a:spcPts val="1800"/>
              </a:spcBef>
            </a:pPr>
            <a:r>
              <a:rPr sz="1600">
                <a:solidFill>
                  <a:srgbClr val="D4D1F6"/>
                </a:solidFill>
                <a:latin typeface="微软雅黑"/>
                <a:ea typeface="微软雅黑"/>
                <a:cs typeface="微软雅黑"/>
              </a:rPr>
              <a:t>1 题　·　中等 1　·　1 名学生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BEBAEE"/>
                </a:solidFill>
                <a:latin typeface="微软雅黑"/>
                <a:ea typeface="微软雅黑"/>
                <a:cs typeface="微软雅黑"/>
              </a:rPr>
              <a:t>错的学生：张诗蕊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2026-09-16　·　填空题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DD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1E6FD9"/>
                </a:solidFill>
                <a:latin typeface="微软雅黑"/>
                <a:ea typeface="微软雅黑"/>
                <a:cs typeface="微软雅黑"/>
              </a:rPr>
              <a:t>难度 3 · 中等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9 题　·　张诗蕊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188720"/>
            <a:ext cx="10765231" cy="36758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600"/>
              </a:spcAft>
            </a:pP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已知在△ABC中，三边长a=2,b=4,c=3,h</a:t>
            </a:r>
            <a:r>
              <a:rPr sz="1860" b="0" baseline="-2500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a</a:t>
            </a: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、h</a:t>
            </a:r>
            <a:r>
              <a:rPr sz="1860" b="0" baseline="-2500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b</a:t>
            </a: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、h</a:t>
            </a:r>
            <a:r>
              <a:rPr sz="1860" b="0" baseline="-2500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c</a:t>
            </a: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分别为边a、b、c上的高，那么h</a:t>
            </a:r>
            <a:r>
              <a:rPr sz="1860" b="0" baseline="-2500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a</a:t>
            </a: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:h</a:t>
            </a:r>
            <a:r>
              <a:rPr sz="1860" b="0" baseline="-2500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b</a:t>
            </a: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:h</a:t>
            </a:r>
            <a:r>
              <a:rPr sz="1860" b="0" baseline="-2500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c</a:t>
            </a: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=____.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卷面识别</a:t>
            </a:r>
          </a:p>
          <a:p>
            <a:pPr>
              <a:spcBef>
                <a:spcPts val="300"/>
              </a:spcBef>
            </a:pPr>
            <a:r>
              <a:rPr sz="26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6:3:4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280160"/>
            <a:ext cx="4206240" cy="4206240"/>
          </a:xfrm>
          <a:prstGeom prst="ellipse">
            <a:avLst/>
          </a:prstGeom>
          <a:solidFill>
            <a:srgbClr val="FFFFFF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97280" y="4572000"/>
            <a:ext cx="3108960" cy="3108960"/>
          </a:xfrm>
          <a:prstGeom prst="ellipse">
            <a:avLst/>
          </a:prstGeom>
          <a:solidFill>
            <a:srgbClr val="FFFF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956816"/>
            <a:ext cx="10332720" cy="2743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1500" b="1">
                <a:solidFill>
                  <a:srgbClr val="CFCBF7"/>
                </a:solidFill>
                <a:latin typeface="微软雅黑"/>
                <a:ea typeface="微软雅黑"/>
                <a:cs typeface="微软雅黑"/>
              </a:rPr>
              <a:t>SECTION 02 / 02</a:t>
            </a:r>
          </a:p>
          <a:p>
            <a:pPr>
              <a:spcBef>
                <a:spcPts val="800"/>
              </a:spcBef>
            </a:pPr>
            <a:r>
              <a:rPr sz="4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2026-09-15</a:t>
            </a:r>
          </a:p>
          <a:p>
            <a:pPr>
              <a:spcBef>
                <a:spcPts val="1800"/>
              </a:spcBef>
            </a:pPr>
            <a:r>
              <a:rPr sz="1600">
                <a:solidFill>
                  <a:srgbClr val="D4D1F6"/>
                </a:solidFill>
                <a:latin typeface="微软雅黑"/>
                <a:ea typeface="微软雅黑"/>
                <a:cs typeface="微软雅黑"/>
              </a:rPr>
              <a:t>9 题　·　基础 2 · 中等 3 · 较难 4　·　4 名学生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BEBAEE"/>
                </a:solidFill>
                <a:latin typeface="微软雅黑"/>
                <a:ea typeface="微软雅黑"/>
                <a:cs typeface="微软雅黑"/>
              </a:rPr>
              <a:t>错的学生：陈施君、程思豪、李哲瀚、张诗蕊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2026-09-15　·　解答题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0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0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DD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DD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难度 2 · 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10 题　·　李哲瀚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13232" y="1188720"/>
            <a:ext cx="8022031" cy="844296"/>
          </a:xfrm>
          <a:prstGeom prst="roundRect">
            <a:avLst>
              <a:gd name="adj" fmla="val 10830"/>
            </a:avLst>
          </a:prstGeom>
          <a:solidFill>
            <a:srgbClr val="EE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9456" rIns="146304" tIns="64008" bIns="64008">
            <a:normAutofit/>
          </a:bodyPr>
          <a:lstStyle/>
          <a:p>
            <a:pPr algn="ctr"/>
            <a:r>
              <a:rPr sz="1050" b="1">
                <a:solidFill>
                  <a:srgbClr val="3F478F"/>
                </a:solidFill>
                <a:latin typeface="微软雅黑"/>
                <a:ea typeface="微软雅黑"/>
                <a:cs typeface="微软雅黑"/>
              </a:rPr>
              <a:t>公共题干</a:t>
            </a:r>
          </a:p>
          <a:p>
            <a:r>
              <a:rPr sz="1350" b="0">
                <a:solidFill>
                  <a:srgbClr val="3F478F"/>
                </a:solidFill>
                <a:latin typeface="微软雅黑"/>
                <a:ea typeface="微软雅黑"/>
                <a:cs typeface="微软雅黑"/>
              </a:rPr>
              <a:t>如图，抛物线 y=2(x-2)² 与平行于 x 轴的直线交于点 A、B，抛物线顶点为 C，△ABC 为等边三角形，求：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1188720"/>
            <a:ext cx="59436" cy="844296"/>
          </a:xfrm>
          <a:prstGeom prst="roundRect">
            <a:avLst>
              <a:gd name="adj" fmla="val 50000"/>
            </a:avLst>
          </a:prstGeom>
          <a:solidFill>
            <a:srgbClr val="B9C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2197608"/>
            <a:ext cx="8022031" cy="266699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600"/>
              </a:spcAft>
            </a:pP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(2)点B的坐标;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64447" y="1170432"/>
            <a:ext cx="2468880" cy="3712463"/>
          </a:xfrm>
          <a:prstGeom prst="roundRect">
            <a:avLst>
              <a:gd name="adj" fmla="val 3500"/>
            </a:avLst>
          </a:prstGeom>
          <a:solidFill>
            <a:srgbClr val="F2F4FB"/>
          </a:solidFill>
          <a:ln w="9525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3425764782_c73658d1-b997-4410-96a5-b591df3d1a8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5309" y="1335024"/>
            <a:ext cx="1767155" cy="314553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210751" y="4517136"/>
            <a:ext cx="2176272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/>
            <a:r>
              <a:rPr sz="10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题图（系统裁片）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练习册答案库</a:t>
            </a:r>
          </a:p>
          <a:p>
            <a:pPr>
              <a:spcBef>
                <a:spcPts val="300"/>
              </a:spcBef>
            </a:pPr>
            <a:r>
              <a:rPr sz="18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如图，过点 C 作 CD⊥AB，垂足为 D。设 AD 为 a(a&gt;0)。∵△ABC 为等边三角形，CD⊥AB，∴AD=DB=a，∠ACD=30°，∴CD=√3a。∴点 B 的坐标为 (2+a, √3a)，∴√3a=2(2+a-2)²，∴a=√3/2，∴B((4+√3)/2, 3/2)。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2026-09-15　·　解答题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0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0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DD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DD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难度 2 · 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4 题　·　陈施君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13232" y="1188720"/>
            <a:ext cx="7802575" cy="577596"/>
          </a:xfrm>
          <a:prstGeom prst="roundRect">
            <a:avLst>
              <a:gd name="adj" fmla="val 15831"/>
            </a:avLst>
          </a:prstGeom>
          <a:solidFill>
            <a:srgbClr val="EE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9456" rIns="146304" tIns="64008" bIns="64008">
            <a:normAutofit/>
          </a:bodyPr>
          <a:lstStyle/>
          <a:p>
            <a:pPr algn="ctr"/>
            <a:r>
              <a:rPr sz="1050" b="1">
                <a:solidFill>
                  <a:srgbClr val="3F478F"/>
                </a:solidFill>
                <a:latin typeface="微软雅黑"/>
                <a:ea typeface="微软雅黑"/>
                <a:cs typeface="微软雅黑"/>
              </a:rPr>
              <a:t>公共题干</a:t>
            </a:r>
          </a:p>
          <a:p>
            <a:r>
              <a:rPr sz="1350" b="0">
                <a:solidFill>
                  <a:srgbClr val="3F478F"/>
                </a:solidFill>
                <a:latin typeface="微软雅黑"/>
                <a:ea typeface="微软雅黑"/>
                <a:cs typeface="微软雅黑"/>
              </a:rPr>
              <a:t>Ⅱ已知二次函数y=x²-2x-3.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1188720"/>
            <a:ext cx="59436" cy="577596"/>
          </a:xfrm>
          <a:prstGeom prst="roundRect">
            <a:avLst>
              <a:gd name="adj" fmla="val 50000"/>
            </a:avLst>
          </a:prstGeom>
          <a:solidFill>
            <a:srgbClr val="B9C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1930908"/>
            <a:ext cx="7802575" cy="293369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600"/>
              </a:spcAft>
            </a:pP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(3)结合函数图像,直接写出当-4≤y≤0时,x的取值范围.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44991" y="1170432"/>
            <a:ext cx="2688335" cy="3712463"/>
          </a:xfrm>
          <a:prstGeom prst="roundRect">
            <a:avLst>
              <a:gd name="adj" fmla="val 3500"/>
            </a:avLst>
          </a:prstGeom>
          <a:solidFill>
            <a:srgbClr val="F2F4FB"/>
          </a:solidFill>
          <a:ln w="9525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6121174312_d882f798-a8b2-4581-a589-da24dde9207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9583" y="1335024"/>
            <a:ext cx="2359151" cy="314553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991295" y="4517136"/>
            <a:ext cx="2395727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/>
            <a:r>
              <a:rPr sz="10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题图（系统裁片）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练习册答案库</a:t>
            </a:r>
          </a:p>
          <a:p>
            <a:pPr>
              <a:spcBef>
                <a:spcPts val="300"/>
              </a:spcBef>
            </a:pPr>
            <a:r>
              <a:rPr sz="22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解：(1)当 y=0 时，x²-2x-3=0，解得 x₁=-1，x₂=3，∴抛物线与 x 轴的交点坐标为 (-1,0)、(3,0)。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2026-09-15　·　解答题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DD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1E6FD9"/>
                </a:solidFill>
                <a:latin typeface="微软雅黑"/>
                <a:ea typeface="微软雅黑"/>
                <a:cs typeface="微软雅黑"/>
              </a:rPr>
              <a:t>难度 3 · 中等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11 题　·　李哲瀚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13232" y="1188720"/>
            <a:ext cx="10765231" cy="1110996"/>
          </a:xfrm>
          <a:prstGeom prst="roundRect">
            <a:avLst>
              <a:gd name="adj" fmla="val 8230"/>
            </a:avLst>
          </a:prstGeom>
          <a:solidFill>
            <a:srgbClr val="EE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9456" rIns="146304" tIns="64008" bIns="64008">
            <a:normAutofit/>
          </a:bodyPr>
          <a:lstStyle/>
          <a:p>
            <a:pPr algn="ctr"/>
            <a:r>
              <a:rPr sz="1050" b="1">
                <a:solidFill>
                  <a:srgbClr val="3F478F"/>
                </a:solidFill>
                <a:latin typeface="微软雅黑"/>
                <a:ea typeface="微软雅黑"/>
                <a:cs typeface="微软雅黑"/>
              </a:rPr>
              <a:t>公共题干</a:t>
            </a:r>
          </a:p>
          <a:p>
            <a:r>
              <a:rPr sz="1350" b="0">
                <a:solidFill>
                  <a:srgbClr val="3F478F"/>
                </a:solidFill>
                <a:latin typeface="微软雅黑"/>
                <a:ea typeface="微软雅黑"/>
                <a:cs typeface="微软雅黑"/>
              </a:rPr>
              <a:t>在平面直角坐标系 xOy 中，将直线 l: y=-3/4x-3 沿 x 轴翻折，得到一条新直线与 x 轴交于点 A，与 y 轴交于点 B，将抛物线 C₁: y=1/3x² 沿 x 轴平移，得到一条新抛物线 C₂ 与 y 轴交于点 D，与直线 AB 交于点 E、F，连接 DF，满足 DF//x 轴. 求：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1188720"/>
            <a:ext cx="59436" cy="1110996"/>
          </a:xfrm>
          <a:prstGeom prst="roundRect">
            <a:avLst>
              <a:gd name="adj" fmla="val 50000"/>
            </a:avLst>
          </a:prstGeom>
          <a:solidFill>
            <a:srgbClr val="B9C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2464308"/>
            <a:ext cx="10765231" cy="240029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600"/>
              </a:spcAft>
            </a:pP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(2)抛物线C₂的表达式.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练习册答案库　·　⚠ 答案较长，讲前请核对</a:t>
            </a:r>
          </a:p>
          <a:p>
            <a:pPr>
              <a:spcBef>
                <a:spcPts val="300"/>
              </a:spcBef>
            </a:pPr>
            <a:r>
              <a:rPr sz="16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设平移后抛物线 C₂ 的顶点为 P(n,0)，则抛物线 C₂ 的表达式为 y=1/3(x-n)²，∴D(0, 1/3n²)。∵DF//x 轴，∴点 F(2n, 1/3n²)。又点 F 在直线 AB 上，∴1/3n²=3/4×2n+3，解得 n₁=6, n₂=-3/2。∴抛物线 C₂ 的表达式为 y=1/3(x-6)² 或 y=1/3(x+3/2)²。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2026-09-15　·　解答题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DD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1E6FD9"/>
                </a:solidFill>
                <a:latin typeface="微软雅黑"/>
                <a:ea typeface="微软雅黑"/>
                <a:cs typeface="微软雅黑"/>
              </a:rPr>
              <a:t>难度 3 · 中等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3 题　·　程思豪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188720"/>
            <a:ext cx="6299123" cy="36758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600"/>
              </a:spcAft>
            </a:pP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3.如图,已知关于x的二次函数 y=-1/2x²+bx+c 的图像如图所示,则这个二次函数的表达式为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41539" y="1170432"/>
            <a:ext cx="4191787" cy="3712463"/>
          </a:xfrm>
          <a:prstGeom prst="roundRect">
            <a:avLst>
              <a:gd name="adj" fmla="val 3500"/>
            </a:avLst>
          </a:prstGeom>
          <a:solidFill>
            <a:srgbClr val="F2F4FB"/>
          </a:solidFill>
          <a:ln w="9525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8286765664_1d69a6d2-ca25-4da4-a44f-6cdc847ea6b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6131" y="1335024"/>
            <a:ext cx="3862603" cy="314553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487843" y="4517136"/>
            <a:ext cx="3899179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/>
            <a:r>
              <a:rPr sz="10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题图（系统裁片）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练习册答案库</a:t>
            </a:r>
          </a:p>
          <a:p>
            <a:pPr>
              <a:spcBef>
                <a:spcPts val="300"/>
              </a:spcBef>
            </a:pPr>
            <a:r>
              <a:rPr sz="26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y=-1/2x²+2x+5/2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2026-09-15　·　解答题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DD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1E6FD9"/>
                </a:solidFill>
                <a:latin typeface="微软雅黑"/>
                <a:ea typeface="微软雅黑"/>
                <a:cs typeface="微软雅黑"/>
              </a:rPr>
              <a:t>难度 3 · 中等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4 题　·　李哲瀚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188720"/>
            <a:ext cx="6395184" cy="36758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600"/>
              </a:spcAft>
            </a:pP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如图, 已知抛物线 y=(x-2)² 的顶点为 C, 直线 y=2x+4 与抛物线交于 A、B 两点, 求 △ABC 的面积.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37600" y="1170432"/>
            <a:ext cx="4095727" cy="3712463"/>
          </a:xfrm>
          <a:prstGeom prst="roundRect">
            <a:avLst>
              <a:gd name="adj" fmla="val 3500"/>
            </a:avLst>
          </a:prstGeom>
          <a:solidFill>
            <a:srgbClr val="F2F4FB"/>
          </a:solidFill>
          <a:ln w="9525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8546190453_2caacc1a-8291-4fd7-9c87-79e268ca9ce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2192" y="1335024"/>
            <a:ext cx="3766543" cy="314553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583904" y="4517136"/>
            <a:ext cx="3803119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/>
            <a:r>
              <a:rPr sz="10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题图（系统裁片）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练习册答案库　·　⚠ 答案较长，讲前请核对</a:t>
            </a:r>
          </a:p>
          <a:p>
            <a:pPr>
              <a:spcBef>
                <a:spcPts val="300"/>
              </a:spcBef>
            </a:pPr>
            <a:r>
              <a:rPr sz="16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解：易知抛物线 y=(x-2)² 的顶点 C 的坐标为 (2,0)。联立两函数的表达式，得 y=2x+4, y=(x-2)²，解得 x₁=0, y₁=4, x₂=6, y₂=16。∴A(6,16), B(0,4)。过点 A 作 AD⊥x 轴，垂足为 D，则 S△ABC = S梯形ABOD - S△AOC - S△ACD = 1/2(OB+AD)·OD - 1/2OC·OB - 1/2CD·AD = 1/2×(4+16)×6 - 1/2×2×4 - 1/2×4×16 = 24。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2026-09-15　·　解答题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C2410C"/>
                </a:solidFill>
                <a:latin typeface="微软雅黑"/>
                <a:ea typeface="微软雅黑"/>
                <a:cs typeface="微软雅黑"/>
              </a:rPr>
              <a:t>难度 4 · 较难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11 题　·　陈施君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13232" y="1188720"/>
            <a:ext cx="7802575" cy="577596"/>
          </a:xfrm>
          <a:prstGeom prst="roundRect">
            <a:avLst>
              <a:gd name="adj" fmla="val 15831"/>
            </a:avLst>
          </a:prstGeom>
          <a:solidFill>
            <a:srgbClr val="EE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9456" rIns="146304" tIns="64008" bIns="64008">
            <a:normAutofit/>
          </a:bodyPr>
          <a:lstStyle/>
          <a:p>
            <a:pPr algn="ctr"/>
            <a:r>
              <a:rPr sz="1050" b="1">
                <a:solidFill>
                  <a:srgbClr val="3F478F"/>
                </a:solidFill>
                <a:latin typeface="微软雅黑"/>
                <a:ea typeface="微软雅黑"/>
                <a:cs typeface="微软雅黑"/>
              </a:rPr>
              <a:t>公共题干</a:t>
            </a:r>
          </a:p>
          <a:p>
            <a:r>
              <a:rPr sz="1350" b="0">
                <a:solidFill>
                  <a:srgbClr val="3F478F"/>
                </a:solidFill>
                <a:latin typeface="微软雅黑"/>
                <a:ea typeface="微软雅黑"/>
                <a:cs typeface="微软雅黑"/>
              </a:rPr>
              <a:t>11.已知二次函数 y=ax²+bx+c(a≠0)的图像过点 A(1,0),点 B(-3,0)和点 C.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1188720"/>
            <a:ext cx="59436" cy="577596"/>
          </a:xfrm>
          <a:prstGeom prst="roundRect">
            <a:avLst>
              <a:gd name="adj" fmla="val 50000"/>
            </a:avLst>
          </a:prstGeom>
          <a:solidFill>
            <a:srgbClr val="B9C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1930908"/>
            <a:ext cx="7802575" cy="293369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600"/>
              </a:spcAft>
            </a:pP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(3)若 z=-ax-3a 且 a&lt;0,求证: y-z+9/4a≤0.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44991" y="1170432"/>
            <a:ext cx="2688335" cy="3712463"/>
          </a:xfrm>
          <a:prstGeom prst="roundRect">
            <a:avLst>
              <a:gd name="adj" fmla="val 3500"/>
            </a:avLst>
          </a:prstGeom>
          <a:solidFill>
            <a:srgbClr val="F2F4FB"/>
          </a:solidFill>
          <a:ln w="9525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4908839743_e192d1bb-0c94-4752-b8f6-32ff21a4b2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9583" y="1335024"/>
            <a:ext cx="2359151" cy="314553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991295" y="4517136"/>
            <a:ext cx="2395727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/>
            <a:r>
              <a:rPr sz="10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题图（系统裁片）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练习册答案库　·　⚠ 答案较长，讲前请核对</a:t>
            </a:r>
          </a:p>
          <a:p>
            <a:pPr>
              <a:spcBef>
                <a:spcPts val="300"/>
              </a:spcBef>
            </a:pPr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(1)解：设二次函数的表达式为 y=a(x-1)(x+3)，把 C(0,-3)代入，得 -3=a×(0-1)×(0+3)，解得 a=1，∴二次函数的表达式为 y=(x-1)(x+3)，即 y=x²+2x-3。
2)解：抛物线表达式为 y=a(x-1)(x+3)，即 y=ax²+2ax-3a，抛物线的对称轴为直线 x=-2a/2a=-1。当 x=-1 时，y 有最值 -4a。当 a&gt;0 时，x=-3，m=0；x=-1，n=-4a，∵m-n=8，∴0+4a=8，解得 a=2；当 a&lt;0 时，x=-1，m=-4a；x=-3，n=0，∵m-n=8，∴-4a-0=8，解得 a=-2，综上所述，a 的值为 2 或 -2。
3)证明：∵y=ax²+2ax-3a，x=-ax-3a，∴y-x+9/4a=ax²+2ax-3a-(-ax-3a)+9/4a=ax²+3ax+9/4a=a(x+3/2)²。∵a&lt;0，(x+3/2)²≥0，∴a(x+3/2)²≤0，即 y-x+9/4a≤0。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2026-09-15　·　解答题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C2410C"/>
                </a:solidFill>
                <a:latin typeface="微软雅黑"/>
                <a:ea typeface="微软雅黑"/>
                <a:cs typeface="微软雅黑"/>
              </a:rPr>
              <a:t>难度 4 · 较难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11 题　·　陈施君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13232" y="1188720"/>
            <a:ext cx="7802575" cy="577596"/>
          </a:xfrm>
          <a:prstGeom prst="roundRect">
            <a:avLst>
              <a:gd name="adj" fmla="val 15831"/>
            </a:avLst>
          </a:prstGeom>
          <a:solidFill>
            <a:srgbClr val="EE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9456" rIns="146304" tIns="64008" bIns="64008">
            <a:normAutofit/>
          </a:bodyPr>
          <a:lstStyle/>
          <a:p>
            <a:pPr algn="ctr"/>
            <a:r>
              <a:rPr sz="1050" b="1">
                <a:solidFill>
                  <a:srgbClr val="3F478F"/>
                </a:solidFill>
                <a:latin typeface="微软雅黑"/>
                <a:ea typeface="微软雅黑"/>
                <a:cs typeface="微软雅黑"/>
              </a:rPr>
              <a:t>公共题干</a:t>
            </a:r>
          </a:p>
          <a:p>
            <a:r>
              <a:rPr sz="1350" b="0">
                <a:solidFill>
                  <a:srgbClr val="3F478F"/>
                </a:solidFill>
                <a:latin typeface="微软雅黑"/>
                <a:ea typeface="微软雅黑"/>
                <a:cs typeface="微软雅黑"/>
              </a:rPr>
              <a:t>11.已知二次函数 y=ax²+bx+c(a≠0)的图像过点 A(1,0),点 B(-3,0)和点 C.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1188720"/>
            <a:ext cx="59436" cy="577596"/>
          </a:xfrm>
          <a:prstGeom prst="roundRect">
            <a:avLst>
              <a:gd name="adj" fmla="val 50000"/>
            </a:avLst>
          </a:prstGeom>
          <a:solidFill>
            <a:srgbClr val="B9C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1930908"/>
            <a:ext cx="7802575" cy="293369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600"/>
              </a:spcAft>
            </a:pP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(2)当 -3≤x≤0 时,二次函数的最大值为 m,最小值为 n,若 m-n=8,求 a 的值;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44991" y="1170432"/>
            <a:ext cx="2688335" cy="3712463"/>
          </a:xfrm>
          <a:prstGeom prst="roundRect">
            <a:avLst>
              <a:gd name="adj" fmla="val 3500"/>
            </a:avLst>
          </a:prstGeom>
          <a:solidFill>
            <a:srgbClr val="F2F4FB"/>
          </a:solidFill>
          <a:ln w="9525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4908839743_e192d1bb-0c94-4752-b8f6-32ff21a4b2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9583" y="1335024"/>
            <a:ext cx="2359151" cy="314553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991295" y="4517136"/>
            <a:ext cx="2395727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/>
            <a:r>
              <a:rPr sz="10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题图（系统裁片）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练习册答案库　·　⚠ 答案较长，讲前请核对</a:t>
            </a:r>
          </a:p>
          <a:p>
            <a:pPr>
              <a:spcBef>
                <a:spcPts val="300"/>
              </a:spcBef>
            </a:pPr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(1)解：设二次函数的表达式为 y=a(x-1)(x+3)，把 C(0,-3)代入，得 -3=a×(0-1)×(0+3)，解得 a=1，∴二次函数的表达式为 y=(x-1)(x+3)，即 y=x²+2x-3。
2)解：抛物线表达式为 y=a(x-1)(x+3)，即 y=ax²+2ax-3a，抛物线的对称轴为直线 x=-2a/2a=-1。当 x=-1 时，y 有最值 -4a。当 a&gt;0 时，x=-3，m=0；x=-1，n=-4a，∵m-n=8，∴0+4a=8，解得 a=2；当 a&lt;0 时，x=-1，m=-4a；x=-3，n=0，∵m-n=8，∴-4a-0=8，解得 a=-2，综上所述，a 的值为 2 或 -2。
3)证明：∵y=ax²+2ax-3a，x=-ax-3a，∴y-x+9/4a=ax²+2ax-3a-(-ax-3a)+9/4a=ax²+3ax+9/4a=a(x+3/2)²。∵a&lt;0，(x+3/2)²≥0，∴a(x+3/2)²≤0，即 y-x+9/4a≤0。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2026-09-15　·　解答题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C2410C"/>
                </a:solidFill>
                <a:latin typeface="微软雅黑"/>
                <a:ea typeface="微软雅黑"/>
                <a:cs typeface="微软雅黑"/>
              </a:rPr>
              <a:t>难度 4 · 较难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12 题　·　李哲瀚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188720"/>
            <a:ext cx="10765231" cy="36758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600"/>
              </a:spcAft>
            </a:pP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已知直线x=c交抛物线y₁=-(x-a)²于点A(c,m),交抛物线y₂=-(x-b)²于点B(c,n),下列结论:①若a&gt;b&gt;c,则m&lt;n;②若b&gt;a&gt;c,则m&lt;n;③若c&gt;b&gt;a,则m&lt;n;④若a&gt;c&gt;b,则m&lt;n.其中正确的结论有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练习册答案库</a:t>
            </a:r>
          </a:p>
          <a:p>
            <a:pPr>
              <a:spcBef>
                <a:spcPts val="300"/>
              </a:spcBef>
            </a:pPr>
            <a:r>
              <a:rPr sz="22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B 解析：∵抛物线 y₁=-(x-a)² 经过点 A(c,m)，∴m=-(c-a)²，同理可得 n=-(c-b)²，∴m-n=-(c-a)²+(c-b)²=(a-b)(2c-a-b)。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2026-09-15　·　解答题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C2410C"/>
                </a:solidFill>
                <a:latin typeface="微软雅黑"/>
                <a:ea typeface="微软雅黑"/>
                <a:cs typeface="微软雅黑"/>
              </a:rPr>
              <a:t>难度 4 · 较难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7 题　·　张诗蕊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188720"/>
            <a:ext cx="7077467" cy="36758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600"/>
              </a:spcAft>
            </a:pP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如图，已知平行四边形ABCD顶点A的坐标为(2,6)，点B在y轴上，且AD//BC//x轴，过B、C、D三点的抛物线的顶点坐标为(2,2)，则抛物线的表达式是y=______.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9883" y="1170432"/>
            <a:ext cx="3413443" cy="3712463"/>
          </a:xfrm>
          <a:prstGeom prst="roundRect">
            <a:avLst>
              <a:gd name="adj" fmla="val 3500"/>
            </a:avLst>
          </a:prstGeom>
          <a:solidFill>
            <a:srgbClr val="F2F4FB"/>
          </a:solidFill>
          <a:ln w="9525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3012741704_87ee6203-2d8c-408a-9a42-8ecbb6b610a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4475" y="1335024"/>
            <a:ext cx="3084259" cy="314553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266187" y="4517136"/>
            <a:ext cx="3120835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/>
            <a:r>
              <a:rPr sz="10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题图（系统裁片）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练习册答案库　·　⚠ 答案较长，讲前请核对</a:t>
            </a:r>
          </a:p>
          <a:p>
            <a:pPr>
              <a:spcBef>
                <a:spcPts val="300"/>
              </a:spcBef>
            </a:pPr>
            <a:r>
              <a:rPr sz="16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1/4(x-2)²+2 解析：∵过B,C,D三点的抛物线的顶点坐标为(2,2),AD//BC//x轴，∴BC=4。∵四边形ABCD是平行四边形，∴AD=BC=4。∵点A的坐标为(2,6)，∴D(6,6)。设抛物线为y=a(x-2)²+2，代入点D的坐标，得6=16a+2，解得a=1/4，∴抛物线的表达式为y=1/4(x-2)²+2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